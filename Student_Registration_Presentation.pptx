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959352" cy="12111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4800" b="1">
                <a:solidFill>
                  <a:srgbClr val="00317E"/>
                </a:solidFill>
                <a:latin typeface="Arial"/>
              </a:defRPr>
            </a:pPr>
            <a:r>
              <a:t>STUDENT HUB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D4AF37"/>
                </a:solidFill>
                <a:latin typeface="Arial"/>
              </a:defRPr>
            </a:pPr>
            <a:r>
              <a:t>Online Student Registration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00317E"/>
                </a:solidFill>
                <a:latin typeface="Arial"/>
              </a:defRPr>
            </a:pPr>
            <a:r>
              <a:t>Department of Computer Science &amp; Engineering (Dept. of CSE)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100" b="1">
                <a:solidFill>
                  <a:srgbClr val="6E6E73"/>
                </a:solidFill>
                <a:latin typeface="Arial"/>
              </a:defRPr>
            </a:pPr>
            <a:r>
              <a:t>DEVELOPMENT TEAM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C1C1E"/>
                </a:solidFill>
                <a:latin typeface="Arial"/>
              </a:defRPr>
            </a:pPr>
            <a:r>
              <a:t>Keerthana GP  (24SUUBECS0914)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C1C1E"/>
                </a:solidFill>
                <a:latin typeface="Arial"/>
              </a:defRPr>
            </a:pPr>
            <a:r>
              <a:t>Keerthana BS  (23SUUBECS0909)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1C1C1E"/>
                </a:solidFill>
                <a:latin typeface="Arial"/>
              </a:defRPr>
            </a:pPr>
            <a:r>
              <a:t>Kiran M Biradar  (24SUUBECS0937)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Introduction &amp;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Student Hub is a full-stack digital enrollment environment built to modernize the traditional, paper-intensive college registration routines.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🌐 Digitalization Target: Transforms slow manual registration steps into a fast, 3-minute paperless flow.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📱 Access &amp; Control: Offers interactive interfaces for student profiles, course checks, and admin analytics.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⚡ Modular Structure: Standardized MVC design system connecting Flask controllers, SQLAlchemy models, and variable CSS.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⚙️ Database Adaptability: Uses local SQLite files for fast testing and scales easily to enterprise MySQL instances.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CORE PILLARS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Automated Roster</a:t>
            </a:r>
          </a:p>
          <a:p>
            <a:pPr>
              <a:defRPr sz="1200">
                <a:solidFill>
                  <a:srgbClr val="1C1C1E"/>
                </a:solidFill>
                <a:latin typeface="Arial"/>
              </a:defRPr>
            </a:pPr>
            <a:r>
              <a:t>Instantly generates identifiers and registers students in real-time.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Design Harmony</a:t>
            </a:r>
          </a:p>
          <a:p>
            <a:pPr>
              <a:defRPr sz="1200">
                <a:solidFill>
                  <a:srgbClr val="1C1C1E"/>
                </a:solidFill>
                <a:latin typeface="Arial"/>
              </a:defRPr>
            </a:pPr>
            <a:r>
              <a:t>Apple-inspired variable CSS with dynamic Dark/Light modes.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Offline Security</a:t>
            </a:r>
          </a:p>
          <a:p>
            <a:pPr>
              <a:defRPr sz="1200">
                <a:solidFill>
                  <a:srgbClr val="1C1C1E"/>
                </a:solidFill>
                <a:latin typeface="Arial"/>
              </a:defRPr>
            </a:pPr>
            <a:r>
              <a:t>Local assets (Material Symbols Outlined) bypasses CSP problems.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Problem Definition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📁 Administrative Overload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Handling manual paperwork results in huge processing queues, candidate dropouts, and catalog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🔑 Credential &amp; Session Risks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Legacy forms lack security defenses like CSRF verification, rate limiting, and password strength checks.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⚡ High User Friction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Single-page layouts containing hundreds of unorganized inputs confuse candidates, leading to incomplete applications.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19202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🔌 Third-Party Asset Dependency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Depending on remote CDNs to fetch fonts and icons violates strict local CSP rules and causes page rendering failures.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Database Design: ER Model concepts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Entity-Relationship (ER) model organizes candidates, administrative settings, and course records within an integrated structure.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👤 Students Entity: Represents the applicant profile, storing personal, address, academic, and security fields.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🛡️ Admins Entity: Represents the staff credentials, holding unique keys and authorization hashes.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📊 Relational Constraints: Enforces uniqueness constraints on fields like email and student_id.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📑 Indices Mapping: Indexes email and student_id keys on database level to speed up search lookups.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DATABASE ENTITIES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Students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1-to-1 mapping with accounts. Stores all validation records.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Admins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Central controls. Authorization checks protect administrative queries.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Index Rules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Speed-optimizes index lookups on email &amp; student_id.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Database Schema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9436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schema implementation maps objects dynamically using Python's SQLAlchemy ORM, ensuring database engine independence.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🗄️ Dev Database: Runs on SQLite locally via `student_hub.db` file for fast zero-configuration testing.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🌐 Prod Database: Connects to MySQL 8+ for enterprise workloads with transactions.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📊 Index Optimization: Adds database B-Tree index constraints: `idx_email` and `idx_student_id` for fast administrative lookup queries.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⚡ DB Engines: Utilizes MySQL InnoDB engine to ensure foreign key integrity and transactional stability.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297680" cy="4023360"/>
          </a:xfrm>
          <a:prstGeom prst="roundRect">
            <a:avLst/>
          </a:prstGeom>
          <a:solidFill>
            <a:srgbClr val="1C1C1E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RAW SCHEMA SQL SNIPPET</a:t>
            </a:r>
          </a:p>
          <a:p>
            <a:pPr>
              <a:lnSpc>
                <a:spcPct val="115000"/>
              </a:lnSpc>
              <a:defRPr sz="950">
                <a:solidFill>
                  <a:srgbClr val="10B981"/>
                </a:solidFill>
                <a:latin typeface="Courier New"/>
              </a:defRPr>
            </a:pPr>
            <a:r>
              <a:t>CREATE DATABASE IF NOT EXISTS student_registration;</a:t>
            </a:r>
            <a:br/>
            <a:r>
              <a:t>USE student_registration;</a:t>
            </a:r>
            <a:br/>
            <a:br/>
            <a:r>
              <a:t>CREATE TABLE students (</a:t>
            </a:r>
            <a:br/>
            <a:r>
              <a:t>  id INT AUTO_INCREMENT PRIMARY KEY,</a:t>
            </a:r>
            <a:br/>
            <a:r>
              <a:t>  student_id VARCHAR(20) NOT NULL UNIQUE,</a:t>
            </a:r>
            <a:br/>
            <a:r>
              <a:t>  email VARCHAR(120) NOT NULL UNIQUE,</a:t>
            </a:r>
            <a:br/>
            <a:r>
              <a:t>  major VARCHAR(100) NOT NULL,</a:t>
            </a:r>
            <a:br/>
            <a:r>
              <a:t>  password_hash VARCHAR(255) NOT NULL,</a:t>
            </a:r>
            <a:br/>
            <a:r>
              <a:t>  INDEX idx_email (email),</a:t>
            </a:r>
            <a:br/>
            <a:r>
              <a:t>  INDEX idx_student_id (student_id)</a:t>
            </a:r>
            <a:br/>
            <a:r>
              <a:t>) ENGINE=InnoDB DEFAULT CHARSET=utf8mb4;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Tables &amp; Relationships: Students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585216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Column Name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Data Type &amp; Constraints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Description / Constraints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INT AUTO_INCREMENT PRIMARY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Unique auto-incremented database key.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student_id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VARCHAR(20) NOT NULL UNIQUE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Unique generated registration ID key (STU-YYYY-XXXX).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VARCHAR(120) NOT NULL UNIQUE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Candidate email address (indexes speed up sign-in lookup).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major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VARCHAR(100) NOT NULL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Selected major (e.g. Computer Science, Data Science, etc.).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password_hash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VARCHAR(255) 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Encrypted password string computed via Bcrypt algorithm.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registration_date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DATETIME NOT NULL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Candidate creation timestamp (Defaults to CURRENT_TIMESTAMP).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Tables &amp; Relationships: System Tables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17E"/>
                </a:solidFill>
              </a:defRPr>
            </a:pPr>
            <a:r>
              <a:t>Admins Table Schema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51206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Column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Details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INT PRIMARY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PK auto-key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username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VARCHAR(80) UNIQUE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Unique login ID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VARCHAR(120) UNIQUE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Unique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password_hash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VARCHAR(255)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Bcrypt signature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17E"/>
                </a:solidFill>
              </a:defRPr>
            </a:pPr>
            <a:r>
              <a:t>System Relationships Overview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920240"/>
          <a:ext cx="51206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55448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Security Level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D4AF37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Student -&gt;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Student Cookies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Isolated cookies protect student credentials.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Admin -&gt; Session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Admin Cookie check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Enforces access blocks on endpoints.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Audit -&gt;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Backend log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Records administrative changes.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JWT -&gt; API Stats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Crypto signature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1C1E"/>
                          </a:solidFill>
                        </a:defRPr>
                      </a:pPr>
                      <a:r>
                        <a:t>Secures analytics lookups.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663440"/>
            <a:ext cx="10698480" cy="13716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00317E"/>
                </a:solidFill>
                <a:latin typeface="Arial"/>
              </a:defRPr>
            </a:pPr>
            <a:r>
              <a:t>💡 **Schema Integrity Rules:**</a:t>
            </a:r>
          </a:p>
          <a:p>
            <a:pPr>
              <a:defRPr sz="1350">
                <a:solidFill>
                  <a:srgbClr val="1C1C1E"/>
                </a:solidFill>
                <a:latin typeface="Arial"/>
              </a:defRPr>
            </a:pPr>
            <a:r>
              <a:t>• Unique constraints are evaluated by Flask validators before DB operations are attempted.</a:t>
            </a:r>
            <a:br/>
            <a:r>
              <a:t>• Administrator credentials and regular student credentials are kept separated via dedicated Flask session identifiers, preventing privilege escalation.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SQL CRUD Operations: Write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4864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registration pipeline validates inputs and runs SQL write commands (inserts/updates) through SQLAlchemy transactions.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📥 Candidate Registration: Generates a unique index ID and writes full personal, address, and academic records.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🔒 Encrypted Write: Computes secure password hashes using Blowfish-based Bcrypt and stores the signature.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📝 Candidate Edits: Translates form changes into dynamic SQL update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46320" cy="4023360"/>
          </a:xfrm>
          <a:prstGeom prst="roundRect">
            <a:avLst/>
          </a:prstGeom>
          <a:solidFill>
            <a:srgbClr val="1C1C1E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SQL WRITE STATEMENT SAMPLES</a:t>
            </a:r>
          </a:p>
          <a:p>
            <a:pPr>
              <a:lnSpc>
                <a:spcPct val="115000"/>
              </a:lnSpc>
              <a:defRPr sz="950">
                <a:solidFill>
                  <a:srgbClr val="10B981"/>
                </a:solidFill>
                <a:latin typeface="Courier New"/>
              </a:defRPr>
            </a:pPr>
            <a:r>
              <a:t>-- Insert a new student record</a:t>
            </a:r>
            <a:br/>
            <a:r>
              <a:t>INSERT INTO students (</a:t>
            </a:r>
            <a:br/>
            <a:r>
              <a:t>  student_id, first_name, last_name, email, </a:t>
            </a:r>
            <a:br/>
            <a:r>
              <a:t>  major, enrollment_type, password_hash</a:t>
            </a:r>
            <a:br/>
            <a:r>
              <a:t>) VALUES (</a:t>
            </a:r>
            <a:br/>
            <a:r>
              <a:t>  'STU-2026-A3F9', 'John', 'Doe', 'john.doe@email.com',</a:t>
            </a:r>
            <a:br/>
            <a:r>
              <a:t>  'Computer Science', 'Full-Time', '$2b$12$R9...'</a:t>
            </a:r>
            <a:br/>
            <a:r>
              <a:t>);</a:t>
            </a:r>
            <a:br/>
            <a:br/>
            <a:r>
              <a:t>-- Update student record</a:t>
            </a:r>
            <a:br/>
            <a:r>
              <a:t>UPDATE students SET </a:t>
            </a:r>
            <a:br/>
            <a:r>
              <a:t>  phone = '+1 555-0199',</a:t>
            </a:r>
            <a:br/>
            <a:r>
              <a:t>  street = '456 Oak Road'</a:t>
            </a:r>
            <a:br/>
            <a:r>
              <a:t>WHERE student_id = 'STU-2026-A3F9';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SQL CRUD Operations: Read &amp;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4864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Administrative pages run SQL queries to search records, filter results, and generate analytics.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🔍 Roster Search Query: Matches search queries against candidate names, email formats, and unique IDs.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📊 Dynamic Aggregations: Computes enrollment totals and groups records by academic major.</a:t>
            </a:r>
          </a:p>
          <a:p>
            <a:pPr>
              <a:spcBef>
                <a:spcPts val="12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🔐 Token Credentials Verification: Validates account passwords and matches Bcrypt hashes during login.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46320" cy="4023360"/>
          </a:xfrm>
          <a:prstGeom prst="roundRect">
            <a:avLst/>
          </a:prstGeom>
          <a:solidFill>
            <a:srgbClr val="1C1C1E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8288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SQL READ &amp; ANALYTICS SAMPLES</a:t>
            </a:r>
          </a:p>
          <a:p>
            <a:pPr>
              <a:lnSpc>
                <a:spcPct val="115000"/>
              </a:lnSpc>
              <a:defRPr sz="950">
                <a:solidFill>
                  <a:srgbClr val="10B981"/>
                </a:solidFill>
                <a:latin typeface="Courier New"/>
              </a:defRPr>
            </a:pPr>
            <a:r>
              <a:t>-- Administrative dynamic search &amp; sort</a:t>
            </a:r>
            <a:br/>
            <a:r>
              <a:t>SELECT * FROM students </a:t>
            </a:r>
            <a:br/>
            <a:r>
              <a:t>WHERE (first_name LIKE '%John%' </a:t>
            </a:r>
            <a:br/>
            <a:r>
              <a:t>   OR email LIKE '%John%'</a:t>
            </a:r>
            <a:br/>
            <a:r>
              <a:t>   OR student_id = 'John')</a:t>
            </a:r>
            <a:br/>
            <a:r>
              <a:t>ORDER BY registration_date DESC;</a:t>
            </a:r>
            <a:br/>
            <a:br/>
            <a:r>
              <a:t>-- Major breakdown aggregation query</a:t>
            </a:r>
            <a:br/>
            <a:r>
              <a:t>SELECT major, COUNT(*) AS enrollments </a:t>
            </a:r>
            <a:br/>
            <a:r>
              <a:t>FROM students </a:t>
            </a:r>
            <a:br/>
            <a:r>
              <a:t>GROUP BY major;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Frontend Design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design system uses CSS variables to ensure brand consistency across light and dark modes.</a:t>
            </a:r>
          </a:p>
          <a:p>
            <a:pPr>
              <a:spcBef>
                <a:spcPts val="10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🎨 Primary Branded Colorways: Navy Blue (`#00317e`) representing security and Gold (`#D4AF37`) representing academic achievement.</a:t>
            </a:r>
          </a:p>
          <a:p>
            <a:pPr>
              <a:spcBef>
                <a:spcPts val="10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🌓 System-wide Dark Mode: Changes styles dynamically using `[data-theme='dark']` settings and saves user choice.</a:t>
            </a:r>
          </a:p>
          <a:p>
            <a:pPr>
              <a:spcBef>
                <a:spcPts val="10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🖥️ Layout Elements: Premium glassmorphism cards, blur navigation bars, and rounded pill containers.</a:t>
            </a:r>
          </a:p>
          <a:p>
            <a:pPr>
              <a:spcBef>
                <a:spcPts val="1000"/>
              </a:spcBef>
              <a:defRPr sz="1450">
                <a:solidFill>
                  <a:srgbClr val="1C1C1E"/>
                </a:solidFill>
                <a:latin typeface="Arial"/>
              </a:defRPr>
            </a:pPr>
            <a:r>
              <a:t>📱 Variable Fonts Scales: System fonts (Inter, Public Sans) scale dynamically for clean readability.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CSS VARIABLE TOKENS</a:t>
            </a:r>
          </a:p>
          <a:p>
            <a:pPr>
              <a:defRPr sz="1300" b="1">
                <a:solidFill>
                  <a:srgbClr val="D4AF37"/>
                </a:solidFill>
                <a:latin typeface="Courier New"/>
              </a:defRPr>
            </a:pPr>
            <a:r>
              <a:t>--navy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#00317e (Brand primary)</a:t>
            </a:r>
          </a:p>
          <a:p>
            <a:pPr>
              <a:defRPr sz="1300" b="1">
                <a:solidFill>
                  <a:srgbClr val="D4AF37"/>
                </a:solidFill>
                <a:latin typeface="Courier New"/>
              </a:defRPr>
            </a:pPr>
            <a:r>
              <a:t>--gold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#D4AF37 (Brand accent)</a:t>
            </a:r>
          </a:p>
          <a:p>
            <a:pPr>
              <a:defRPr sz="1300" b="1">
                <a:solidFill>
                  <a:srgbClr val="D4AF37"/>
                </a:solidFill>
                <a:latin typeface="Courier New"/>
              </a:defRPr>
            </a:pPr>
            <a:r>
              <a:t>--card-bg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rgba(255,255,255,0.65)</a:t>
            </a:r>
          </a:p>
          <a:p>
            <a:pPr>
              <a:defRPr sz="1300" b="1">
                <a:solidFill>
                  <a:srgbClr val="D4AF37"/>
                </a:solidFill>
                <a:latin typeface="Courier New"/>
              </a:defRPr>
            </a:pPr>
            <a:r>
              <a:t>--card-border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rgba(255,255,255,0.45)</a:t>
            </a:r>
          </a:p>
          <a:p>
            <a:pPr>
              <a:defRPr sz="1300" b="1">
                <a:solidFill>
                  <a:srgbClr val="D4AF37"/>
                </a:solidFill>
                <a:latin typeface="Courier New"/>
              </a:defRPr>
            </a:pPr>
            <a:r>
              <a:t>--radius-xl</a:t>
            </a:r>
          </a:p>
          <a:p>
            <a:pPr>
              <a:spcAft>
                <a:spcPts val="400"/>
              </a:spcAft>
              <a:defRPr sz="1150">
                <a:solidFill>
                  <a:srgbClr val="1C1C1E"/>
                </a:solidFill>
                <a:latin typeface="Arial"/>
              </a:defRPr>
            </a:pPr>
            <a:r>
              <a:t>24px (Soft pill buttons)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The Interface Wizard Screens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32918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Step 1: Identity</a:t>
            </a:r>
          </a:p>
          <a:p>
            <a:pPr algn="ctr">
              <a:defRPr sz="1300">
                <a:solidFill>
                  <a:srgbClr val="1C1C1E"/>
                </a:solidFill>
                <a:latin typeface="Arial"/>
              </a:defRPr>
            </a:pPr>
            <a:r>
              <a:t>Personal details inputs featuring regex email checks and phone formatting.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514600" cy="32918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Step 2: Location</a:t>
            </a:r>
          </a:p>
          <a:p>
            <a:pPr algn="ctr">
              <a:defRPr sz="1300">
                <a:solidFill>
                  <a:srgbClr val="1C1C1E"/>
                </a:solidFill>
                <a:latin typeface="Arial"/>
              </a:defRPr>
            </a:pPr>
            <a:r>
              <a:t>Collects mailing coordinates and postal address details.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514600" cy="32918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Step 3: Program</a:t>
            </a:r>
          </a:p>
          <a:p>
            <a:pPr algn="ctr">
              <a:defRPr sz="1300">
                <a:solidFill>
                  <a:srgbClr val="1C1C1E"/>
                </a:solidFill>
                <a:latin typeface="Arial"/>
              </a:defRPr>
            </a:pPr>
            <a:r>
              <a:t>Academic selection mapping candidates to specific program majors.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645920"/>
            <a:ext cx="2514600" cy="3291840"/>
          </a:xfrm>
          <a:prstGeom prst="roundRect">
            <a:avLst/>
          </a:prstGeom>
          <a:solidFill>
            <a:srgbClr val="F2F2F7"/>
          </a:solidFill>
          <a:ln w="1270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331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Step 4: Account</a:t>
            </a:r>
          </a:p>
          <a:p>
            <a:pPr algn="ctr">
              <a:defRPr sz="1300">
                <a:solidFill>
                  <a:srgbClr val="1C1C1E"/>
                </a:solidFill>
                <a:latin typeface="Arial"/>
              </a:defRPr>
            </a:pPr>
            <a:r>
              <a:t>Password meter validation and dynamic registration code generation.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00317E"/>
                </a:solidFill>
                <a:latin typeface="Arial"/>
              </a:defRPr>
            </a:pPr>
            <a:r>
              <a:t>💡 **User Experience Features:**</a:t>
            </a:r>
          </a:p>
          <a:p>
            <a:pPr>
              <a:defRPr sz="1350">
                <a:solidFill>
                  <a:srgbClr val="1C1C1E"/>
                </a:solidFill>
                <a:latin typeface="Arial"/>
              </a:defRPr>
            </a:pPr>
            <a:r>
              <a:t>• Seamless Navigation: Next/Previous controls maintain filled states, reducing user input frustration.</a:t>
            </a:r>
            <a:br/>
            <a:r>
              <a:t>• Form Validation Feedback: Immediate visual alerts are triggered before form submission to ensure database clean writes.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Innovation: Local Asset Self-Hosting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A core security innovation in Student Hub is the elimination of external content delivery networks (CDNs) for key UI icons.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🔒 Asset Isolation: Serves the Material Symbols font file (`.ttf`) directly from local `/static/fonts` folders.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🛡️ Content Security Policy compliance: Prevents security blocks on external CDN domains by referencing assets from `'self'`.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🔌 Network Independence: The application loads fast in offline local dev, removing the risk of CDN outages.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🧩 Dynamic Font Rendering: Retains variable axis settings (optical sizes, fill axis, weights) through pure local CSS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LOCAL ASSET SETUP</a:t>
            </a:r>
          </a:p>
          <a:p>
            <a:pPr>
              <a:spcBef>
                <a:spcPts val="800"/>
              </a:spcBef>
              <a:defRPr sz="1400" b="1">
                <a:solidFill>
                  <a:srgbClr val="D4AF37"/>
                </a:solidFill>
                <a:latin typeface="Arial"/>
              </a:defRPr>
            </a:pPr>
            <a:r>
              <a:t>✔ Download Binary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Pulled Google's official variable font file to project disk folders.</a:t>
            </a:r>
          </a:p>
          <a:p>
            <a:pPr>
              <a:spcBef>
                <a:spcPts val="800"/>
              </a:spcBef>
              <a:defRPr sz="1400" b="1">
                <a:solidFill>
                  <a:srgbClr val="D4AF37"/>
                </a:solidFill>
                <a:latin typeface="Arial"/>
              </a:defRPr>
            </a:pPr>
            <a:r>
              <a:t>✔ CSS Mapping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Added @font-face rules mapping families to '/static/fonts/' urls.</a:t>
            </a:r>
          </a:p>
          <a:p>
            <a:pPr>
              <a:spcBef>
                <a:spcPts val="800"/>
              </a:spcBef>
              <a:defRPr sz="1400" b="1">
                <a:solidFill>
                  <a:srgbClr val="D4AF37"/>
                </a:solidFill>
                <a:latin typeface="Arial"/>
              </a:defRPr>
            </a:pPr>
            <a:r>
              <a:t>✔ Strict CSP settings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Wiped out external font-src domains, whitelisting 'self' only.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Innovation: Session Protection &amp; Audit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Student Hub implements strict backend audit tracking to secure administrative actions and session states.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🛡️ Separated Session Managers: Employs different authentication flows for Students and Admins, preventing privilege escalation.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📜 Operational Audit Logging: Writes JSON logs (`audit.py`) tracking actions, user context, client IP, and target candidate IDs.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🧹 Input Sanitizer Middleware: Cleans inbound inputs before they reach the DB to block SQL injections and XSS attempts.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🔑 Endpoint Token Protections: Protects backend APIs with JWT verification decorators (`@token_required`).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1C1C1E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4AF37"/>
                </a:solidFill>
                <a:latin typeface="Arial"/>
              </a:defRPr>
            </a:pPr>
            <a:r>
              <a:t>AUDIT LOGGER LOG SAMPLE</a:t>
            </a:r>
          </a:p>
          <a:p>
            <a:pPr>
              <a:lnSpc>
                <a:spcPct val="115000"/>
              </a:lnSpc>
              <a:defRPr sz="1050">
                <a:solidFill>
                  <a:srgbClr val="00FFFF"/>
                </a:solidFill>
                <a:latin typeface="Courier New"/>
              </a:defRPr>
            </a:pPr>
            <a:r>
              <a:t>2026-05-24 10:45:01 [INFO]</a:t>
            </a:r>
            <a:br/>
            <a:r>
              <a:t>AuditLog: {</a:t>
            </a:r>
            <a:br/>
            <a:r>
              <a:t>  "request_id": "8a32-9b2f",</a:t>
            </a:r>
            <a:br/>
            <a:r>
              <a:t>  "user_id": 14,</a:t>
            </a:r>
            <a:br/>
            <a:r>
              <a:t>  "action": "UPDATE_PROFILE",</a:t>
            </a:r>
            <a:br/>
            <a:r>
              <a:t>  "ip": "127.0.0.1",</a:t>
            </a:r>
            <a:br/>
            <a:r>
              <a:t>  "details": {</a:t>
            </a:r>
            <a:br/>
            <a:r>
              <a:t>    "student_id": "STU-2026-A3",</a:t>
            </a:r>
            <a:br/>
            <a:r>
              <a:t>    "status": "active"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Output Screens: Student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✨ Hero Canvas Particle Effects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The index landing page features a custom floating canvas particle background that animates smoothly.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⭕ Circular Progress Indicator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The student dashboard features a dynamic SVG completion ring that updates based on profile fields filled.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🎉 Confetti Overlay Celebration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When registration finishes, the confirmation screen triggers a confetti celebration to welcome the user.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931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🌓 Dark &amp; Light Modes Visuals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Responsive navigation and card templates change theme immediately without page reloads.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Output Screens: Admin Console &amp; KPI Charts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Admin Console displays key performance metrics and enrollment breakdown visualizations.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📊 KPI Overview Panels: Quick-view cards display totals, course catalogs, and registration types.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📈 Visual Major Charts: Rendered dynamically via Chart.js from real-time database counts.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👥 Searchable Candidate Table: Sorts, filters, and searches entries by Name, ID, or Major.</a:t>
            </a:r>
          </a:p>
          <a:p>
            <a:pPr>
              <a:spcBef>
                <a:spcPts val="10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📥 Dynamic CSV Downloader: One-click export download of the student roster.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ADMIN VIEWS</a:t>
            </a:r>
          </a:p>
          <a:p>
            <a:pPr>
              <a:spcBef>
                <a:spcPts val="800"/>
              </a:spcBef>
              <a:defRPr sz="1450" b="1">
                <a:solidFill>
                  <a:srgbClr val="D4AF37"/>
                </a:solidFill>
                <a:latin typeface="Arial"/>
              </a:defRPr>
            </a:pPr>
            <a:r>
              <a:t>✔ Enrollment Stats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Real-time count of total students enrolled and majors breakdown.</a:t>
            </a:r>
          </a:p>
          <a:p>
            <a:pPr>
              <a:spcBef>
                <a:spcPts val="800"/>
              </a:spcBef>
              <a:defRPr sz="1450" b="1">
                <a:solidFill>
                  <a:srgbClr val="D4AF37"/>
                </a:solidFill>
                <a:latin typeface="Arial"/>
              </a:defRPr>
            </a:pPr>
            <a:r>
              <a:t>✔ Search / Sort Table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Tabular display with multi-column sorting and filtering options.</a:t>
            </a:r>
          </a:p>
          <a:p>
            <a:pPr>
              <a:spcBef>
                <a:spcPts val="800"/>
              </a:spcBef>
              <a:defRPr sz="1450" b="1">
                <a:solidFill>
                  <a:srgbClr val="D4AF37"/>
                </a:solidFill>
                <a:latin typeface="Arial"/>
              </a:defRPr>
            </a:pPr>
            <a:r>
              <a:t>✔ CSV Directory Export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Generates and triggers download of student records in CSV format.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Advantages &amp;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ADVANTAGES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⭐ Clean User Interface: Multi-step layout reduces user input cognitive fatigue.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⭐ Local Resource Assets: Bypassing external CDN calls improves speed and CSP safety.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⭐ Comprehensive Security: Integrates Bcrypt, CSRF tokens, rate limiters, and CSP.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⭐ Centralized Roster Controls: Allows easy student directory updates and CSV exports.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317E"/>
                </a:solidFill>
                <a:latin typeface="Arial"/>
              </a:defRPr>
            </a:pPr>
            <a:r>
              <a:t>LIMITATIONS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⚠️ Session Cookies: Relies on HTTP-only session cookies; session state is lost on browser logout.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⚠️ JS Dependent: Visual animations and transitions require JavaScript support to render properly.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⚠️ Local Server Testing: SQLite configurations are designed for local developer environments.</a:t>
            </a:r>
          </a:p>
          <a:p>
            <a:pPr>
              <a:spcBef>
                <a:spcPts val="1000"/>
              </a:spcBef>
              <a:defRPr sz="1400">
                <a:solidFill>
                  <a:srgbClr val="1C1C1E"/>
                </a:solidFill>
                <a:latin typeface="Arial"/>
              </a:defRPr>
            </a:pPr>
            <a:r>
              <a:t>⚠️ Administrative Authority: Lacks advanced multi-tier admin role permission trees.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Student Hub successfully digitizes university admission processes, delivering a fast, highly secure, and user-friendly experience.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🏆 Automated Registration: Speeds up file compilation and enrollment tracking.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🔒 Secure Design: Implements rigid headers (CSP/HSTS) and password encryption hashes (Bcrypt).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🎨 Interface Aesthetics: Clean Navy/Gold design system optimized for mobile viewports.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⚙️ Robust Architecture: Successfully tested with local SQLite and staging MySQL environments.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KEY TAKEAWAYS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Easy Deploy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Containerizable code structure ready for production server setups.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Self-Hosted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Local assets remove CDN risks and keep pages fully secure.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✔ Compliance Logs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Requests tracking helps audit operations and sessions.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While Student Hub delivers a solid foundation, several extensions are planned for future iterations.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💳 Integrated Payment Portals: Connects payment gateways (Razorpay, Stripe) to collect registration and library fees.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✉️ Automated Notifications: Triggers SMS updates and email dispatches for status changes.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🔐 Advanced Authentication: Adds two-factor verification (2FA) and multi-tier admin roles.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📱 Mobile App Wrappers: Packages the layout as a native Android/iOS application.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ROADMAP MILESTONES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Phase 1: Gateway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Integrate online fee payment API checkout routines.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Phase 2: Alert System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Build notification triggers for confirmations.</a:t>
            </a:r>
          </a:p>
          <a:p>
            <a:pPr>
              <a:spcBef>
                <a:spcPts val="800"/>
              </a:spcBef>
              <a:defRPr sz="1500" b="1">
                <a:solidFill>
                  <a:srgbClr val="D4AF37"/>
                </a:solidFill>
                <a:latin typeface="Arial"/>
              </a:defRPr>
            </a:pPr>
            <a:r>
              <a:t>• Phase 3: Native Wrapper</a:t>
            </a:r>
          </a:p>
          <a:p>
            <a:pPr>
              <a:defRPr sz="1150">
                <a:solidFill>
                  <a:srgbClr val="1C1C1E"/>
                </a:solidFill>
                <a:latin typeface="Arial"/>
              </a:defRPr>
            </a:pPr>
            <a:r>
              <a:t>Publish Android/iOS application wrapper containers.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development and security compliance of Student Hub references the following standards and frameworks: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📚 **Flask 3.0 Documentation**: [https://flask.palletsprojects.com](https://flask.palletsprojects.com)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🗄️ **SQLAlchemy 2.0 Specifications**: [https://www.sqlalchemy.org](https://www.sqlalchemy.org)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🎨 **Apple Human Interface Guidelines (HIG)**: [https://developer.apple.com/design/human-interface-guidelines](https://developer.apple.com/design/human-interface-guidelines)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🎨 **Google Material Design 3 Documentation**: [https://m3.material.io](https://m3.material.io)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🛡️ **OWASP Top 10 Security Risks &amp; Controls**: [https://owasp.org/www-project-top-ten](https://owasp.org/www-project-top-ten)</a:t>
            </a:r>
          </a:p>
          <a:p>
            <a:pPr>
              <a:spcBef>
                <a:spcPts val="1200"/>
              </a:spcBef>
              <a:defRPr sz="1550">
                <a:solidFill>
                  <a:srgbClr val="1C1C1E"/>
                </a:solidFill>
                <a:latin typeface="Arial"/>
              </a:defRPr>
            </a:pPr>
            <a:r>
              <a:t>💻 **Werkzeug WSGI Web Utilities**: [https://werkzeug.palletsprojects.com](https://werkzeug.palletsprojects.com)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