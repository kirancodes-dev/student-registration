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3959352" cy="12111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926080"/>
            <a:ext cx="1069848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4800" b="1">
                <a:solidFill>
                  <a:srgbClr val="00317E"/>
                </a:solidFill>
                <a:latin typeface="Arial"/>
              </a:defRPr>
            </a:pPr>
            <a:r>
              <a:t>STUDENT HUB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D4AF37"/>
                </a:solidFill>
                <a:latin typeface="Arial"/>
              </a:defRPr>
            </a:pPr>
            <a:r>
              <a:t>Online Student Registration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00317E"/>
                </a:solidFill>
                <a:latin typeface="Arial"/>
              </a:defRPr>
            </a:pPr>
            <a:r>
              <a:t>Department of Computer Science &amp; Engineering (Dept. of CSE)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1100" b="1">
                <a:solidFill>
                  <a:srgbClr val="6E6E73"/>
                </a:solidFill>
                <a:latin typeface="Arial"/>
              </a:defRPr>
            </a:pPr>
            <a:r>
              <a:t>DEVELOPMENT TEAM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C1C1E"/>
                </a:solidFill>
                <a:latin typeface="Arial"/>
              </a:defRPr>
            </a:pPr>
            <a:r>
              <a:t>Keerthana GP  (24SUUBECS0914)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C1C1E"/>
                </a:solidFill>
                <a:latin typeface="Arial"/>
              </a:defRPr>
            </a:pPr>
            <a:r>
              <a:t>Keerthana BS  (23SUUBECS0909)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C1C1E"/>
                </a:solidFill>
                <a:latin typeface="Arial"/>
              </a:defRPr>
            </a:pPr>
            <a:r>
              <a:t>Kiran M Biradar  (24SUUBECS0937)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Introduction: Background &amp;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1C1C1E"/>
                </a:solidFill>
                <a:latin typeface="Arial"/>
              </a:defRPr>
            </a:pPr>
            <a:r>
              <a:t>Traditional student registration is traditionally a paper-intensive, time-consuming procedure requiring physical submission, manual entry, and long processing cycles.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📄 Paper Limitations: Transcription errors (1-3% per field), storage bulk, and long 3-5 days wait periods.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🖥️ Legacy Systems Issues: Early electronic systems served as basic forms lacking real-time validation or mobile viewport support.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⚡ Digitalization Pressure: Modern institutions face increasing pressure to digitize operations and meet student expectations.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🛡️ Core Solution: Student Hub balances accessibility with multi-layered secure endpoints, real-time client indicators, and immediate ID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02336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317E"/>
                </a:solidFill>
                <a:latin typeface="Arial"/>
              </a:defRPr>
            </a:pPr>
            <a:r>
              <a:t>TARGET AUDIENCES</a:t>
            </a:r>
          </a:p>
          <a:p>
            <a:pPr>
              <a:spcBef>
                <a:spcPts val="6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• Students</a:t>
            </a:r>
          </a:p>
          <a:p>
            <a:pPr>
              <a:defRPr sz="1100">
                <a:solidFill>
                  <a:srgbClr val="1C1C1E"/>
                </a:solidFill>
                <a:latin typeface="Arial"/>
              </a:defRPr>
            </a:pPr>
            <a:r>
              <a:t>Expect fast (under 3 mins) enrollment and instant ID generation.</a:t>
            </a:r>
          </a:p>
          <a:p>
            <a:pPr>
              <a:spcBef>
                <a:spcPts val="6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• Enrollment Staff</a:t>
            </a:r>
          </a:p>
          <a:p>
            <a:pPr>
              <a:defRPr sz="1100">
                <a:solidFill>
                  <a:srgbClr val="1C1C1E"/>
                </a:solidFill>
                <a:latin typeface="Arial"/>
              </a:defRPr>
            </a:pPr>
            <a:r>
              <a:t>Need efficient tools. Reduces registration workloads by ~70%.</a:t>
            </a:r>
          </a:p>
          <a:p>
            <a:pPr>
              <a:spcBef>
                <a:spcPts val="6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• IT Administrators</a:t>
            </a:r>
          </a:p>
          <a:p>
            <a:pPr>
              <a:defRPr sz="1100">
                <a:solidFill>
                  <a:srgbClr val="1C1C1E"/>
                </a:solidFill>
                <a:latin typeface="Arial"/>
              </a:defRPr>
            </a:pPr>
            <a:r>
              <a:t>Require secure configurations (CSP, HSTS, Docker).</a:t>
            </a:r>
          </a:p>
          <a:p>
            <a:pPr>
              <a:spcBef>
                <a:spcPts val="6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• Institutional Leaders</a:t>
            </a:r>
          </a:p>
          <a:p>
            <a:pPr>
              <a:defRPr sz="1100">
                <a:solidFill>
                  <a:srgbClr val="1C1C1E"/>
                </a:solidFill>
                <a:latin typeface="Arial"/>
              </a:defRPr>
            </a:pPr>
            <a:r>
              <a:t>Requires real-time dashboard visibility and audit trails.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Problem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 P1: Excessive Completion Time</a:t>
            </a:r>
          </a:p>
          <a:p>
            <a:pPr>
              <a:spcAft>
                <a:spcPts val="400"/>
              </a:spcAft>
              <a:defRPr sz="1250">
                <a:solidFill>
                  <a:srgbClr val="1C1C1E"/>
                </a:solidFill>
                <a:latin typeface="Arial"/>
              </a:defRPr>
            </a:pPr>
            <a:r>
              <a:t>Registration takes 30-45 minutes. Single-page scrolling forms with 20+ fields cause high cognitive fatigue.</a:t>
            </a:r>
          </a:p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🎯 Objective: FO1: Limit application time to &lt; 3 mins.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 P2: Vulnerable Server Architectures</a:t>
            </a:r>
          </a:p>
          <a:p>
            <a:pPr>
              <a:spcAft>
                <a:spcPts val="400"/>
              </a:spcAft>
              <a:defRPr sz="1250">
                <a:solidFill>
                  <a:srgbClr val="1C1C1E"/>
                </a:solidFill>
                <a:latin typeface="Arial"/>
              </a:defRPr>
            </a:pPr>
            <a:r>
              <a:t>Legacy databases lack encryption and rate limits. Plaintext password storage and missing CSRF tokens risk breaches.</a:t>
            </a:r>
          </a:p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🎯 Objective: SO1-4: Implement Bcrypt (work factor 12) &amp; CSRF check.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192024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 P3: Desktop-Only Interfaces</a:t>
            </a:r>
          </a:p>
          <a:p>
            <a:pPr>
              <a:spcAft>
                <a:spcPts val="400"/>
              </a:spcAft>
              <a:defRPr sz="1250">
                <a:solidFill>
                  <a:srgbClr val="1C1C1E"/>
                </a:solidFill>
                <a:latin typeface="Arial"/>
              </a:defRPr>
            </a:pPr>
            <a:r>
              <a:t>Desktop viewports required. Small touch targets (&lt;44px) make mobile enrollment extremely frustrating.</a:t>
            </a:r>
          </a:p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🎯 Objective: UXO1-2: Mobile-first responsive views, 44px+ targets.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192024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23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 P4: Regulatory Compliance Gaps</a:t>
            </a:r>
          </a:p>
          <a:p>
            <a:pPr>
              <a:spcAft>
                <a:spcPts val="400"/>
              </a:spcAft>
              <a:defRPr sz="1250">
                <a:solidFill>
                  <a:srgbClr val="1C1C1E"/>
                </a:solidFill>
                <a:latin typeface="Arial"/>
              </a:defRPr>
            </a:pPr>
            <a:r>
              <a:t>System lack log monitors (FERPA, GDPR) to track user updates, creating auditing compliance risks.</a:t>
            </a:r>
          </a:p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🎯 Objective: AO1-4: Audit trails logger and dynamic charts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Database Design: ER Model Concepts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The transactional system models candidate profiles and system operations cleanly using relational Entity-Relationship standards.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👤 Students Entity: Captures full applicant metrics (personal details, mailing addresses, school history, hashes).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🛡️ Admins Entity: Stores administrator account records separated from standard student scopes.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📊 Uniqueness Constraints: Enforces unique parameters on `email` and `student_id` database columns.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📑 Indexing Configurations: Creates indexes (`idx_email`, `idx_student_id`) to optimize login search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02336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00317E"/>
                </a:solidFill>
                <a:latin typeface="Arial"/>
              </a:defRPr>
            </a:pPr>
            <a:r>
              <a:t>NORMALIZATION (3NF)</a:t>
            </a:r>
          </a:p>
          <a:p>
            <a:pPr>
              <a:spcBef>
                <a:spcPts val="8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✔ First Normal Form (1NF)</a:t>
            </a:r>
          </a:p>
          <a:p>
            <a:pPr>
              <a:defRPr sz="1100">
                <a:solidFill>
                  <a:srgbClr val="1C1C1E"/>
                </a:solidFill>
                <a:latin typeface="Arial"/>
              </a:defRPr>
            </a:pPr>
            <a:r>
              <a:t>Eliminates repeating columns and multi-valued attributes.</a:t>
            </a:r>
          </a:p>
          <a:p>
            <a:pPr>
              <a:spcBef>
                <a:spcPts val="8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✔ Second Normal Form (2NF)</a:t>
            </a:r>
          </a:p>
          <a:p>
            <a:pPr>
              <a:defRPr sz="1100">
                <a:solidFill>
                  <a:srgbClr val="1C1C1E"/>
                </a:solidFill>
                <a:latin typeface="Arial"/>
              </a:defRPr>
            </a:pPr>
            <a:r>
              <a:t>Removes partial dependencies on composite primary keys.</a:t>
            </a:r>
          </a:p>
          <a:p>
            <a:pPr>
              <a:spcBef>
                <a:spcPts val="8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✔ Third Normal Form (3NF)</a:t>
            </a:r>
          </a:p>
          <a:p>
            <a:pPr>
              <a:defRPr sz="1100">
                <a:solidFill>
                  <a:srgbClr val="1C1C1E"/>
                </a:solidFill>
                <a:latin typeface="Arial"/>
              </a:defRPr>
            </a:pPr>
            <a:r>
              <a:t>Removes transitive dependencies, securing data integrity.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Database Architecture &amp; SQL Injection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9436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The application implements a dual-database connectivity strategy, abstracting SQL query generation entirely through SQLAlchemy.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🗄️ Dev Fallback (SQLite): Automatically creates a local database file `student_hub.db` if no MySQL settings exist.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🌐 Prod Database (MySQL): Easily connects to MySQL 8+ schemas. URL-encodes special characters in passwords to prevent connection crashes.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🛡️ SQL Injection Prevention: Uses SQLAlchemy ORM parameterized queries to separate user input variables from SQL commands, blocking injection attacks.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🔑 Collision-Resistant IDs: Generates IDs in `STU-{YEAR}-{RANDOM4}` format, dynamically checking database availability via a collision-retry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97680" cy="402336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8288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4AF37"/>
                </a:solidFill>
                <a:latin typeface="Arial"/>
              </a:defRPr>
            </a:pPr>
            <a:r>
              <a:t>SQLALCHEMY ORM SCHEMAS</a:t>
            </a:r>
          </a:p>
          <a:p>
            <a:pPr>
              <a:lnSpc>
                <a:spcPct val="115000"/>
              </a:lnSpc>
              <a:defRPr sz="950">
                <a:solidFill>
                  <a:srgbClr val="10B981"/>
                </a:solidFill>
                <a:latin typeface="Courier New"/>
              </a:defRPr>
            </a:pPr>
            <a:r>
              <a:t>class Student(db.Model, UserMixin):</a:t>
            </a:r>
            <a:br/>
            <a:r>
              <a:t>    __tablename__ = 'students'</a:t>
            </a:r>
            <a:br/>
            <a:r>
              <a:t>    id = db.Column(db.Integer, primary_key=True)</a:t>
            </a:r>
            <a:br/>
            <a:r>
              <a:t>    student_id = db.Column(</a:t>
            </a:r>
            <a:br/>
            <a:r>
              <a:t>        db.String(20), unique=True, nullable=False</a:t>
            </a:r>
            <a:br/>
            <a:r>
              <a:t>    )</a:t>
            </a:r>
            <a:br/>
            <a:r>
              <a:t>    email = db.Column(</a:t>
            </a:r>
            <a:br/>
            <a:r>
              <a:t>        db.String(120), unique=True, nullable=False</a:t>
            </a:r>
            <a:br/>
            <a:r>
              <a:t>    )</a:t>
            </a:r>
            <a:br/>
            <a:r>
              <a:t>    major = db.Column(</a:t>
            </a:r>
            <a:br/>
            <a:r>
              <a:t>        db.String(100), nullable=False</a:t>
            </a:r>
            <a:br/>
            <a:r>
              <a:t>    )</a:t>
            </a:r>
            <a:br/>
            <a:r>
              <a:t>    password_hash = db.Column(</a:t>
            </a:r>
            <a:br/>
            <a:r>
              <a:t>        db.String(255), nullable=False</a:t>
            </a:r>
            <a:br/>
            <a:r>
              <a:t>    )</a:t>
            </a:r>
            <a:br/>
            <a:r>
              <a:t>    registration_date = db.Column(</a:t>
            </a:r>
            <a:br/>
            <a:r>
              <a:t>        db.DateTime, default=datetime.utcnow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Tables &amp; Relationships: Students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585216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D4AF37"/>
                          </a:solidFill>
                        </a:defRPr>
                      </a:pPr>
                      <a:r>
                        <a:t>Column Name</a:t>
                      </a:r>
                    </a:p>
                  </a:txBody>
                  <a:tcPr>
                    <a:solidFill>
                      <a:srgbClr val="0031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D4AF37"/>
                          </a:solidFill>
                        </a:defRPr>
                      </a:pPr>
                      <a:r>
                        <a:t>Data Type &amp; Constraints</a:t>
                      </a:r>
                    </a:p>
                  </a:txBody>
                  <a:tcPr>
                    <a:solidFill>
                      <a:srgbClr val="0031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D4AF37"/>
                          </a:solidFill>
                        </a:defRPr>
                      </a:pPr>
                      <a:r>
                        <a:t>Role / Constraints / Validation Context</a:t>
                      </a:r>
                    </a:p>
                  </a:txBody>
                  <a:tcPr>
                    <a:solidFill>
                      <a:srgbClr val="00317E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E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1C1E"/>
                          </a:solidFill>
                        </a:defRPr>
                      </a:pPr>
                      <a:r>
                        <a:t>INT AUTO_INCREMENT PRIMARY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C1E"/>
                          </a:solidFill>
                        </a:defRPr>
                      </a:pPr>
                      <a:r>
                        <a:t>Unique numeric identifier key.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E"/>
                          </a:solidFill>
                        </a:defRPr>
                      </a:pPr>
                      <a:r>
                        <a:t>student_id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1C1E"/>
                          </a:solidFill>
                        </a:defRPr>
                      </a:pPr>
                      <a:r>
                        <a:t>VARCHAR(20) NOT NULL UNIQUE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C1E"/>
                          </a:solidFill>
                        </a:defRPr>
                      </a:pPr>
                      <a:r>
                        <a:t>Unique generated registration code (indexed).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E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1C1E"/>
                          </a:solidFill>
                        </a:defRPr>
                      </a:pPr>
                      <a:r>
                        <a:t>VARCHAR(120) NOT NULL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C1E"/>
                          </a:solidFill>
                        </a:defRPr>
                      </a:pPr>
                      <a:r>
                        <a:t>Unique applicant email (indexed to optimize lookup speed).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E"/>
                          </a:solidFill>
                        </a:defRPr>
                      </a:pPr>
                      <a:r>
                        <a:t>dob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1C1E"/>
                          </a:solidFill>
                        </a:defRPr>
                      </a:pPr>
                      <a:r>
                        <a:t>DATE NOT NULL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C1E"/>
                          </a:solidFill>
                        </a:defRPr>
                      </a:pPr>
                      <a:r>
                        <a:t>Candidate date of birth (enforces age validation).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E"/>
                          </a:solidFill>
                        </a:defRPr>
                      </a:pPr>
                      <a:r>
                        <a:t>major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1C1E"/>
                          </a:solidFill>
                        </a:defRPr>
                      </a:pPr>
                      <a:r>
                        <a:t>VARCHAR(100) NOT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C1E"/>
                          </a:solidFill>
                        </a:defRPr>
                      </a:pPr>
                      <a:r>
                        <a:t>Selected major program (Computer Science, Data Science, etc.).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C1C1E"/>
                          </a:solidFill>
                        </a:defRPr>
                      </a:pPr>
                      <a:r>
                        <a:t>password_hash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C1C1E"/>
                          </a:solidFill>
                        </a:defRPr>
                      </a:pPr>
                      <a:r>
                        <a:t>VARCHAR(255) NOT NULL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1C1E"/>
                          </a:solidFill>
                        </a:defRPr>
                      </a:pPr>
                      <a:r>
                        <a:t>Secure password string encrypted using Bcrypt (rounds: 12).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Tables &amp; Relationships: System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17E"/>
                </a:solidFill>
              </a:defRPr>
            </a:pPr>
            <a:r>
              <a:t>Admins Table Schema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92024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10312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D4AF37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0031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D4AF37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31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D4AF37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0317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INT PRIMARY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PK auto-key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username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VARCHAR(80) UNIQUE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Unique login username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VARCHAR(120)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Unique administrative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password_hash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Secure Bcrypt password signature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17E"/>
                </a:solidFill>
              </a:defRPr>
            </a:pPr>
            <a:r>
              <a:t>Dynamic Authorization Schema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92024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210312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D4AF37"/>
                          </a:solidFill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0031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D4AF37"/>
                          </a:solidFill>
                        </a:defRPr>
                      </a:pPr>
                      <a:r>
                        <a:t>Security Policy</a:t>
                      </a:r>
                    </a:p>
                  </a:txBody>
                  <a:tcPr>
                    <a:solidFill>
                      <a:srgbClr val="0031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D4AF37"/>
                          </a:solidFill>
                        </a:defRPr>
                      </a:pPr>
                      <a:r>
                        <a:t>Session Validation Action</a:t>
                      </a:r>
                    </a:p>
                  </a:txBody>
                  <a:tcPr>
                    <a:solidFill>
                      <a:srgbClr val="00317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Student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HttpOnly Cookie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Saves regular integer ID in server session.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Admin session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HttpOnly Cookie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Prepends 'admin-' prefix to user loader key.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Audit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JSON 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Triggers logs inside audit.py on changes.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REST Access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JWT validation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1C1E"/>
                          </a:solidFill>
                        </a:defRPr>
                      </a:pPr>
                      <a:r>
                        <a:t>API routes verify cryptographic tokens.</a:t>
                      </a:r>
                    </a:p>
                  </a:txBody>
                  <a:tcPr>
                    <a:solidFill>
                      <a:srgbClr val="F2F2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0317E"/>
                </a:solidFill>
                <a:latin typeface="Arial"/>
              </a:defRPr>
            </a:pPr>
            <a:r>
              <a:t>💡 **Verification &amp; Role Isolation:**</a:t>
            </a:r>
          </a:p>
          <a:p>
            <a:pPr>
              <a:defRPr sz="1350">
                <a:solidFill>
                  <a:srgbClr val="1C1C1E"/>
                </a:solidFill>
                <a:latin typeface="Arial"/>
              </a:defRPr>
            </a:pPr>
            <a:r>
              <a:t>• Separation of Concerns: The system checks the Admins table first. If a match is found, session IDs are stored with an 'admin-' prefix, ensuring complete partition from Student accounts.</a:t>
            </a:r>
            <a:br/>
            <a:r>
              <a:t>• Constraints Enforcement: Database uniqueness constraints prevent duplicated student IDs or candidate emails.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SQL CRUD: Write Actions (Inserts/Updates)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Student Hub maps write operations dynamically using SQLAlchemy ORM to run secure, SQL-injection-resistant database queries.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📥 Candidate Registration INSERT: Runs transaction inserts containing validated personal, address, and graduation details.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🔒 Encrypted Passwords: Computes salt and bcrypt hashes, writing the 255-character string to the database.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✏️ Profile updates: Runs UPDATE statements matching the candidate session ID to alter contact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46320" cy="402336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4AF37"/>
                </a:solidFill>
                <a:latin typeface="Arial"/>
              </a:defRPr>
            </a:pPr>
            <a:r>
              <a:t>RAW SQL WRITE STATEMENTS</a:t>
            </a:r>
          </a:p>
          <a:p>
            <a:pPr>
              <a:lnSpc>
                <a:spcPct val="115000"/>
              </a:lnSpc>
              <a:defRPr sz="950">
                <a:solidFill>
                  <a:srgbClr val="10B981"/>
                </a:solidFill>
                <a:latin typeface="Courier New"/>
              </a:defRPr>
            </a:pPr>
            <a:r>
              <a:t>-- Registering a student</a:t>
            </a:r>
            <a:br/>
            <a:r>
              <a:t>INSERT INTO students (</a:t>
            </a:r>
            <a:br/>
            <a:r>
              <a:t>  student_id, first_name, last_name, email, </a:t>
            </a:r>
            <a:br/>
            <a:r>
              <a:t>  major, enrollment_type, password_hash</a:t>
            </a:r>
            <a:br/>
            <a:r>
              <a:t>) VALUES (</a:t>
            </a:r>
            <a:br/>
            <a:r>
              <a:t>  'STU-2026-A3F9', 'John', 'Doe', 'john.doe@email.com',</a:t>
            </a:r>
            <a:br/>
            <a:r>
              <a:t>  'Computer Science', 'Full-Time', '$2b$12$R9...'</a:t>
            </a:r>
            <a:br/>
            <a:r>
              <a:t>);</a:t>
            </a:r>
            <a:br/>
            <a:br/>
            <a:r>
              <a:t>-- Updating candidate profile details</a:t>
            </a:r>
            <a:br/>
            <a:r>
              <a:t>UPDATE students SET </a:t>
            </a:r>
            <a:br/>
            <a:r>
              <a:t>  phone = '+1 555-0199',</a:t>
            </a:r>
            <a:br/>
            <a:r>
              <a:t>  street = '456 Oak Road'</a:t>
            </a:r>
            <a:br/>
            <a:r>
              <a:t>WHERE student_id = 'STU-2026-A3F9';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SQL CRUD: Reads &amp; Aggregation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The administrative dashboard processes dynamically filtered SELECT queries to support real-time searches and stats summaries.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🔍 Roster Search &amp; Sorting: Uses multiple SQL `OR` conditions and dynamic column sorting variables.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📊 Dynamic Aggregations: Groups candidate registries by selected major to render charts.</a:t>
            </a:r>
          </a:p>
          <a:p>
            <a:pPr>
              <a:spcBef>
                <a:spcPts val="12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🔐 Credentials validation: Matches username and loads password hashes to evaluate logins.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846320" cy="402336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4AF37"/>
                </a:solidFill>
                <a:latin typeface="Arial"/>
              </a:defRPr>
            </a:pPr>
            <a:r>
              <a:t>RAW SQL READ &amp; STATS STATEMENTS</a:t>
            </a:r>
          </a:p>
          <a:p>
            <a:pPr>
              <a:lnSpc>
                <a:spcPct val="115000"/>
              </a:lnSpc>
              <a:defRPr sz="950">
                <a:solidFill>
                  <a:srgbClr val="10B981"/>
                </a:solidFill>
                <a:latin typeface="Courier New"/>
              </a:defRPr>
            </a:pPr>
            <a:r>
              <a:t>-- Search and Sort candidate table</a:t>
            </a:r>
            <a:br/>
            <a:r>
              <a:t>SELECT * FROM students </a:t>
            </a:r>
            <a:br/>
            <a:r>
              <a:t>WHERE (first_name LIKE '%John%' </a:t>
            </a:r>
            <a:br/>
            <a:r>
              <a:t>   OR email LIKE '%John%'</a:t>
            </a:r>
            <a:br/>
            <a:r>
              <a:t>   OR student_id = 'John')</a:t>
            </a:r>
            <a:br/>
            <a:r>
              <a:t>ORDER BY registration_date DESC;</a:t>
            </a:r>
            <a:br/>
            <a:br/>
            <a:r>
              <a:t>-- Aggregations for Chart.js dashboard</a:t>
            </a:r>
            <a:br/>
            <a:r>
              <a:t>SELECT major, COUNT(*) AS count </a:t>
            </a:r>
            <a:br/>
            <a:r>
              <a:t>FROM students </a:t>
            </a:r>
            <a:br/>
            <a:r>
              <a:t>GROUP BY major;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Frontend UI: Design System &amp; Styling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Student Hub features a premium, responsive frontend design system inspired by the Apple Human Interface Guidelines.</a:t>
            </a:r>
          </a:p>
          <a:p>
            <a:pPr>
              <a:spcBef>
                <a:spcPts val="10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🎨 Color Palette: Navy Blue (`#00317e`) representing authority and Gold (`#D4AF37`) representing academic excellence.</a:t>
            </a:r>
          </a:p>
          <a:p>
            <a:pPr>
              <a:spcBef>
                <a:spcPts val="10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🌓 Seamless Dark Mode: Implements dynamic dark styles via `[data-theme='dark']` and saves preference in `localStorage`.</a:t>
            </a:r>
          </a:p>
          <a:p>
            <a:pPr>
              <a:spcBef>
                <a:spcPts val="10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📱 Modern CSS Layouts: Fluid typography clamping, flexbox layouts, glassmorphism cards, and responsive viewports.</a:t>
            </a:r>
          </a:p>
          <a:p>
            <a:pPr>
              <a:spcBef>
                <a:spcPts val="1000"/>
              </a:spcBef>
              <a:defRPr sz="1450">
                <a:solidFill>
                  <a:srgbClr val="1C1C1E"/>
                </a:solidFill>
                <a:latin typeface="Arial"/>
              </a:defRPr>
            </a:pPr>
            <a:r>
              <a:t>♿ Accessibility Touch Targets: Minimum `44px x 44px` targets throughout for easy mobile tap interactions.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02336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317E"/>
                </a:solidFill>
                <a:latin typeface="Arial"/>
              </a:defRPr>
            </a:pPr>
            <a:r>
              <a:t>CSS VARIABLE TOKENS</a:t>
            </a:r>
          </a:p>
          <a:p>
            <a:pPr>
              <a:defRPr sz="1300" b="1">
                <a:solidFill>
                  <a:srgbClr val="D4AF37"/>
                </a:solidFill>
                <a:latin typeface="Courier New"/>
              </a:defRPr>
            </a:pPr>
            <a:r>
              <a:t>--navy</a:t>
            </a:r>
          </a:p>
          <a:p>
            <a:pPr>
              <a:spcAft>
                <a:spcPts val="400"/>
              </a:spcAft>
              <a:defRPr sz="1150">
                <a:solidFill>
                  <a:srgbClr val="1C1C1E"/>
                </a:solidFill>
                <a:latin typeface="Arial"/>
              </a:defRPr>
            </a:pPr>
            <a:r>
              <a:t>#00317e (Brand primary)</a:t>
            </a:r>
          </a:p>
          <a:p>
            <a:pPr>
              <a:defRPr sz="1300" b="1">
                <a:solidFill>
                  <a:srgbClr val="D4AF37"/>
                </a:solidFill>
                <a:latin typeface="Courier New"/>
              </a:defRPr>
            </a:pPr>
            <a:r>
              <a:t>--gold</a:t>
            </a:r>
          </a:p>
          <a:p>
            <a:pPr>
              <a:spcAft>
                <a:spcPts val="400"/>
              </a:spcAft>
              <a:defRPr sz="1150">
                <a:solidFill>
                  <a:srgbClr val="1C1C1E"/>
                </a:solidFill>
                <a:latin typeface="Arial"/>
              </a:defRPr>
            </a:pPr>
            <a:r>
              <a:t>#D4AF37 (Brand accent)</a:t>
            </a:r>
          </a:p>
          <a:p>
            <a:pPr>
              <a:defRPr sz="1300" b="1">
                <a:solidFill>
                  <a:srgbClr val="D4AF37"/>
                </a:solidFill>
                <a:latin typeface="Courier New"/>
              </a:defRPr>
            </a:pPr>
            <a:r>
              <a:t>--card-bg</a:t>
            </a:r>
          </a:p>
          <a:p>
            <a:pPr>
              <a:spcAft>
                <a:spcPts val="400"/>
              </a:spcAft>
              <a:defRPr sz="1150">
                <a:solidFill>
                  <a:srgbClr val="1C1C1E"/>
                </a:solidFill>
                <a:latin typeface="Arial"/>
              </a:defRPr>
            </a:pPr>
            <a:r>
              <a:t>rgba(255,255,255,0.65)</a:t>
            </a:r>
          </a:p>
          <a:p>
            <a:pPr>
              <a:defRPr sz="1300" b="1">
                <a:solidFill>
                  <a:srgbClr val="D4AF37"/>
                </a:solidFill>
                <a:latin typeface="Courier New"/>
              </a:defRPr>
            </a:pPr>
            <a:r>
              <a:t>--card-border</a:t>
            </a:r>
          </a:p>
          <a:p>
            <a:pPr>
              <a:spcAft>
                <a:spcPts val="400"/>
              </a:spcAft>
              <a:defRPr sz="1150">
                <a:solidFill>
                  <a:srgbClr val="1C1C1E"/>
                </a:solidFill>
                <a:latin typeface="Arial"/>
              </a:defRPr>
            </a:pPr>
            <a:r>
              <a:t>rgba(255,255,255,0.45)</a:t>
            </a:r>
          </a:p>
          <a:p>
            <a:pPr>
              <a:defRPr sz="1300" b="1">
                <a:solidFill>
                  <a:srgbClr val="D4AF37"/>
                </a:solidFill>
                <a:latin typeface="Courier New"/>
              </a:defRPr>
            </a:pPr>
            <a:r>
              <a:t>--radius-xl</a:t>
            </a:r>
          </a:p>
          <a:p>
            <a:pPr>
              <a:spcAft>
                <a:spcPts val="400"/>
              </a:spcAft>
              <a:defRPr sz="1150">
                <a:solidFill>
                  <a:srgbClr val="1C1C1E"/>
                </a:solidFill>
                <a:latin typeface="Arial"/>
              </a:defRPr>
            </a:pPr>
            <a:r>
              <a:t>24px (Soft pill buttons)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Frontend UI: Multi-Step Registration Wizard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329184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003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Step 1: Personal Info</a:t>
            </a:r>
          </a:p>
          <a:p>
            <a:pPr algn="ctr">
              <a:defRPr sz="1300">
                <a:solidFill>
                  <a:srgbClr val="1C1C1E"/>
                </a:solidFill>
                <a:latin typeface="Arial"/>
              </a:defRPr>
            </a:pPr>
            <a:r>
              <a:t>First/Last Name, Date of Birth, Gender, Email checks, and formatted Phone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329184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003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Step 2: Mailing Address</a:t>
            </a:r>
          </a:p>
          <a:p>
            <a:pPr algn="ctr">
              <a:defRPr sz="1300">
                <a:solidFill>
                  <a:srgbClr val="1C1C1E"/>
                </a:solidFill>
                <a:latin typeface="Arial"/>
              </a:defRPr>
            </a:pPr>
            <a:r>
              <a:t>Street address, City, State, ZIP code, and Country drop-down configurations.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14600" cy="329184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003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Step 3: Academic Details</a:t>
            </a:r>
          </a:p>
          <a:p>
            <a:pPr algn="ctr">
              <a:defRPr sz="1300">
                <a:solidFill>
                  <a:srgbClr val="1C1C1E"/>
                </a:solidFill>
                <a:latin typeface="Arial"/>
              </a:defRPr>
            </a:pPr>
            <a:r>
              <a:t>High school name, Graduation year, Major selection, and Enrollment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514600" cy="3291840"/>
          </a:xfrm>
          <a:prstGeom prst="roundRect">
            <a:avLst/>
          </a:prstGeom>
          <a:solidFill>
            <a:srgbClr val="F2F2F7"/>
          </a:solidFill>
          <a:ln w="12700">
            <a:solidFill>
              <a:srgbClr val="003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2331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Step 4: Create Account</a:t>
            </a:r>
          </a:p>
          <a:p>
            <a:pPr algn="ctr">
              <a:defRPr sz="1300">
                <a:solidFill>
                  <a:srgbClr val="1C1C1E"/>
                </a:solidFill>
                <a:latin typeface="Arial"/>
              </a:defRPr>
            </a:pPr>
            <a:r>
              <a:t>Password inputs with a real-time strength checker and terms acceptance checkboxes.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400"/>
              </a:spcAft>
              <a:defRPr b="1">
                <a:solidFill>
                  <a:srgbClr val="00317E"/>
                </a:solidFill>
                <a:latin typeface="Arial"/>
              </a:defRPr>
            </a:pPr>
            <a:r>
              <a:t>💡 **User Experience Logic:**</a:t>
            </a:r>
          </a:p>
          <a:p>
            <a:pPr>
              <a:defRPr sz="1350">
                <a:solidFill>
                  <a:srgbClr val="1C1C1E"/>
                </a:solidFill>
                <a:latin typeface="Arial"/>
              </a:defRPr>
            </a:pPr>
            <a:r>
              <a:t>• Multi-Step controller: Uses vanilla ES6 JS state controls to hide/show panels without page refreshes.</a:t>
            </a:r>
            <a:br/>
            <a:r>
              <a:t>• Smart Error Redirects: If registration validation fails, the script identifies error panels and auto-scrolls to the first error field.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Innovation: Local Asset Self-Hosting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To eliminate third-party CDN security leaks and support offline deployments, the system self-hosts all design vectors.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🔒 Asset Isolation: Stores the `Material Symbols Outlined` variable font (`.ttf`) directly inside `/static/fonts` directories.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🛡️ CSP Optimization: Satisfies restrictive Content Security Policies, whitelisting `'self'` for font loads instead of public CDN urls.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🔌 Network Autonomy: Guarantees pages render properly and load instantly even when offline.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🧩 Variable Font Axes: Maintains clean CSS access to variable axis values (fill axes, weight, optical sizing) locally.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02336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00317E"/>
                </a:solidFill>
                <a:latin typeface="Arial"/>
              </a:defRPr>
            </a:pPr>
            <a:r>
              <a:t>LOCAL ASSET SETUP</a:t>
            </a:r>
          </a:p>
          <a:p>
            <a:pPr>
              <a:spcBef>
                <a:spcPts val="8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✔ Font Binary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Stored MaterialSymbolsOutlined.ttf locally in the static folder.</a:t>
            </a:r>
          </a:p>
          <a:p>
            <a:pPr>
              <a:spcBef>
                <a:spcPts val="8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✔ CSS Mapping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Added @font-face rules mapping font url resources to '/static/fonts/'.</a:t>
            </a:r>
          </a:p>
          <a:p>
            <a:pPr>
              <a:spcBef>
                <a:spcPts val="800"/>
              </a:spcBef>
              <a:defRPr sz="1400" b="1">
                <a:solidFill>
                  <a:srgbClr val="D4AF37"/>
                </a:solidFill>
                <a:latin typeface="Arial"/>
              </a:defRPr>
            </a:pPr>
            <a:r>
              <a:t>✔ CSP Lockdown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Removed Google Fonts external connections, whitelist only 'self' in CSP.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Innovation: Session Protection &amp; Audit Logs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The application implements strict operational auditing and session controllers to secure user states.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🛡️ Role Session Separation: Segregates Admin and Student authentication logic, preventing privilege escalation.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📜 JSON Audit Logging (audit.py): Logs operation payloads, user contexts, Client IPs, and target student IDs.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🧹 Input Sanitizer: Clears input strings of SQL strings and script tags before processing to block XSS.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🔑 Token Authentication API: API endpoints use a `@token_required` decorator for JWT authorization.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023360"/>
          </a:xfrm>
          <a:prstGeom prst="roundRect">
            <a:avLst/>
          </a:prstGeom>
          <a:solidFill>
            <a:srgbClr val="1C1C1E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4AF37"/>
                </a:solidFill>
                <a:latin typeface="Arial"/>
              </a:defRPr>
            </a:pPr>
            <a:r>
              <a:t>JSON AUDIT LOG SAMPLE</a:t>
            </a:r>
          </a:p>
          <a:p>
            <a:pPr>
              <a:lnSpc>
                <a:spcPct val="115000"/>
              </a:lnSpc>
              <a:defRPr sz="1050">
                <a:solidFill>
                  <a:srgbClr val="00FFFF"/>
                </a:solidFill>
                <a:latin typeface="Courier New"/>
              </a:defRPr>
            </a:pPr>
            <a:r>
              <a:t>{</a:t>
            </a:r>
            <a:br/>
            <a:r>
              <a:t>  "timestamp": "2026-05-24T10:45:01Z",</a:t>
            </a:r>
            <a:br/>
            <a:r>
              <a:t>  "request_id": "8a32-9b2f",</a:t>
            </a:r>
            <a:br/>
            <a:r>
              <a:t>  "user_id": 14,</a:t>
            </a:r>
            <a:br/>
            <a:r>
              <a:t>  "action": "UPDATE_PROFILE",</a:t>
            </a:r>
            <a:br/>
            <a:r>
              <a:t>  "ip": "127.0.0.1",</a:t>
            </a:r>
            <a:br/>
            <a:r>
              <a:t>  "details": {</a:t>
            </a:r>
            <a:br/>
            <a:r>
              <a:t>    "student_id": "STU-2026-A3",</a:t>
            </a:r>
            <a:br/>
            <a:r>
              <a:t>    "status": "active"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Output Screens: Student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1920240"/>
          </a:xfrm>
          <a:prstGeom prst="rect">
            <a:avLst/>
          </a:prstGeom>
          <a:solidFill>
            <a:srgbClr val="F2F2F7"/>
          </a:solidFill>
          <a:ln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✨ Hero Particle Canvas</a:t>
            </a:r>
          </a:p>
          <a:p>
            <a:pPr>
              <a:defRPr sz="1250">
                <a:solidFill>
                  <a:srgbClr val="1C1C1E"/>
                </a:solidFill>
                <a:latin typeface="Arial"/>
              </a:defRPr>
            </a:pPr>
            <a:r>
              <a:t>A custom JavaScript-based floating canvas particle background animates dynamically in the hero viewport, creating a premium look.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1920240"/>
          </a:xfrm>
          <a:prstGeom prst="rect">
            <a:avLst/>
          </a:prstGeom>
          <a:solidFill>
            <a:srgbClr val="F2F2F7"/>
          </a:solidFill>
          <a:ln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⭕ SVG Completion Ring</a:t>
            </a:r>
          </a:p>
          <a:p>
            <a:pPr>
              <a:defRPr sz="1250">
                <a:solidFill>
                  <a:srgbClr val="1C1C1E"/>
                </a:solidFill>
                <a:latin typeface="Arial"/>
              </a:defRPr>
            </a:pPr>
            <a:r>
              <a:t>The student dashboard displays an interactive SVG completion ring, calculating the percentage of completed profile fields.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212080" cy="1920240"/>
          </a:xfrm>
          <a:prstGeom prst="rect">
            <a:avLst/>
          </a:prstGeom>
          <a:solidFill>
            <a:srgbClr val="F2F2F7"/>
          </a:solidFill>
          <a:ln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🎉 Confetti Celebration</a:t>
            </a:r>
          </a:p>
          <a:p>
            <a:pPr>
              <a:defRPr sz="1250">
                <a:solidFill>
                  <a:srgbClr val="1C1C1E"/>
                </a:solidFill>
                <a:latin typeface="Arial"/>
              </a:defRPr>
            </a:pPr>
            <a:r>
              <a:t>Triggers a full-screen canvas confetti animation upon successful form submission to welcome new students.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931920"/>
            <a:ext cx="5212080" cy="1920240"/>
          </a:xfrm>
          <a:prstGeom prst="rect">
            <a:avLst/>
          </a:prstGeom>
          <a:solidFill>
            <a:srgbClr val="F2F2F7"/>
          </a:solidFill>
          <a:ln>
            <a:solidFill>
              <a:srgbClr val="F2F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317E"/>
                </a:solidFill>
                <a:latin typeface="Arial"/>
              </a:defRPr>
            </a:pPr>
            <a:r>
              <a:t>🌓 Dark &amp; Light Modes</a:t>
            </a:r>
          </a:p>
          <a:p>
            <a:pPr>
              <a:defRPr sz="1250">
                <a:solidFill>
                  <a:srgbClr val="1C1C1E"/>
                </a:solidFill>
                <a:latin typeface="Arial"/>
              </a:defRPr>
            </a:pPr>
            <a:r>
              <a:t>Changes design templates instantly using CSS variables when the dark/light mode toggle is clicked.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Output Screens: Admin Panel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The Admin Console displays key performance metrics and enrollment breakdown visualizations.</a:t>
            </a:r>
          </a:p>
          <a:p>
            <a:pPr>
              <a:spcBef>
                <a:spcPts val="10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📊 KPI Analytics Summary Cards: Displays total student enrollment numbers, active courses, and status counts.</a:t>
            </a:r>
          </a:p>
          <a:p>
            <a:pPr>
              <a:spcBef>
                <a:spcPts val="10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📈 Chart.js Charting: Renders real-time graphs breakdown of academic majors.</a:t>
            </a:r>
          </a:p>
          <a:p>
            <a:pPr>
              <a:spcBef>
                <a:spcPts val="10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👥 Dynamic Searchable Table: Administrators can search entries by ID, email, or name instantly.</a:t>
            </a:r>
          </a:p>
          <a:p>
            <a:pPr>
              <a:spcBef>
                <a:spcPts val="10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📥 CSV Directory Export: Enables downloading the full student database in CSV format with one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02336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00317E"/>
                </a:solidFill>
                <a:latin typeface="Arial"/>
              </a:defRPr>
            </a:pPr>
            <a:r>
              <a:t>STATS API DATA (/api/stats)</a:t>
            </a:r>
          </a:p>
          <a:p>
            <a:pPr>
              <a:spcBef>
                <a:spcPts val="800"/>
              </a:spcBef>
              <a:defRPr sz="1450" b="1">
                <a:solidFill>
                  <a:srgbClr val="D4AF37"/>
                </a:solidFill>
                <a:latin typeface="Arial"/>
              </a:defRPr>
            </a:pPr>
            <a:r>
              <a:t>✔ JSON Response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Served dynamically to feed metrics to the landing page counts.</a:t>
            </a:r>
          </a:p>
          <a:p>
            <a:pPr>
              <a:spcBef>
                <a:spcPts val="800"/>
              </a:spcBef>
              <a:defRPr sz="1450" b="1">
                <a:solidFill>
                  <a:srgbClr val="D4AF37"/>
                </a:solidFill>
                <a:latin typeface="Arial"/>
              </a:defRPr>
            </a:pPr>
            <a:r>
              <a:t>✔ Majors Breakdown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Calculates percentage distribution of registered programs.</a:t>
            </a:r>
          </a:p>
          <a:p>
            <a:pPr>
              <a:spcBef>
                <a:spcPts val="800"/>
              </a:spcBef>
              <a:defRPr sz="1450" b="1">
                <a:solidFill>
                  <a:srgbClr val="D4AF37"/>
                </a:solidFill>
                <a:latin typeface="Arial"/>
              </a:defRPr>
            </a:pPr>
            <a:r>
              <a:t>✔ CSV Directory Export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Downloads full candidate registry databases on user request.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Advantages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02336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317E"/>
                </a:solidFill>
                <a:latin typeface="Arial"/>
              </a:defRPr>
            </a:pPr>
            <a:r>
              <a:t>SYSTEM ADVANTAGES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⭐ 90% Processing Speedup: Reduces active registration times from 30 minutes to under 2.5 minutes.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⭐ Self-Hosted Design System: Serves assets locally, securing page rendering and CSP compliance.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⭐ Parameterized SQL Safety: SQLAlchemy ORM prevents raw injections.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⭐ Clean Administrative Flow: CSV exports and stats dashboards reduce manual staff workloads by ~70%.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02336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317E"/>
                </a:solidFill>
                <a:latin typeface="Arial"/>
              </a:defRPr>
            </a:pPr>
            <a:r>
              <a:t>SYSTEM LIMITATIONS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⚠️ Browser State Cookie dependency: Session attributes are lost if cookies are cleared.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⚠️ JavaScript dependent: Client validation checks and UI transitions require JS to be enabled.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⚠️ SQLite single-instance: Default SQLite setup is limited to local developer environments.</a:t>
            </a:r>
          </a:p>
          <a:p>
            <a:pPr>
              <a:spcBef>
                <a:spcPts val="1000"/>
              </a:spcBef>
              <a:defRPr sz="1400">
                <a:solidFill>
                  <a:srgbClr val="1C1C1E"/>
                </a:solidFill>
                <a:latin typeface="Arial"/>
              </a:defRPr>
            </a:pPr>
            <a:r>
              <a:t>⚠️ Multi-Institution Restriction: Lacks support for multi-tenancy configurations.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Student Hub successfully digitizes university registration processes, providing a secure, responsive, and audit-compliant application.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🏆 SMART Objectives Achieved: Reached an average completion speed of 2 mins and 31 seconds with zero collisions.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🔒 Enterprise Security Stack: bcrypt password hashing with work factor 12, WTForms CSRF token protection, and rate limiters.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🎨 Optimized UX Layouts: Fluid mobile responsive design compliant with WCAG 2.1 touch guidelines.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⚙️ Deployment Ready: Includes automated run scripts and Docker containerization configuration.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02336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00317E"/>
                </a:solidFill>
                <a:latin typeface="Arial"/>
              </a:defRPr>
            </a:pPr>
            <a:r>
              <a:t>PROJECT METRICS</a:t>
            </a:r>
          </a:p>
          <a:p>
            <a:pPr>
              <a:spcBef>
                <a:spcPts val="800"/>
              </a:spcBef>
              <a:defRPr sz="1500" b="1">
                <a:solidFill>
                  <a:srgbClr val="D4AF37"/>
                </a:solidFill>
                <a:latin typeface="Arial"/>
              </a:defRPr>
            </a:pPr>
            <a:r>
              <a:t>✔ 90% Speedup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Registration time cut down from 30+ minutes to 2.5 minutes.</a:t>
            </a:r>
          </a:p>
          <a:p>
            <a:pPr>
              <a:spcBef>
                <a:spcPts val="800"/>
              </a:spcBef>
              <a:defRPr sz="1500" b="1">
                <a:solidFill>
                  <a:srgbClr val="D4AF37"/>
                </a:solidFill>
                <a:latin typeface="Arial"/>
              </a:defRPr>
            </a:pPr>
            <a:r>
              <a:t>✔ 100% Local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Self-hosted fonts remove third-party tracking risks.</a:t>
            </a:r>
          </a:p>
          <a:p>
            <a:pPr>
              <a:spcBef>
                <a:spcPts val="800"/>
              </a:spcBef>
              <a:defRPr sz="1500" b="1">
                <a:solidFill>
                  <a:srgbClr val="D4AF37"/>
                </a:solidFill>
                <a:latin typeface="Arial"/>
              </a:defRPr>
            </a:pPr>
            <a:r>
              <a:t>✔ Compliance logs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JSON formats support FERPA and GDPR auditing.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Future Scope &amp;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Future iterations will build on this secure foundation with integrations and scaling enhancements.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💳 Stripe / PayPal Integration: Connects payment gateways to collect registration fees securely.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✉️ SendGrid Email Dispatches: Sends confirmation logs and password reset links to applicants.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🔐 Multi-Factor Authentication (2FA): Adds 2FA options using Google Authenticator codes.</a:t>
            </a:r>
          </a:p>
          <a:p>
            <a:pPr>
              <a:spcBef>
                <a:spcPts val="1200"/>
              </a:spcBef>
              <a:defRPr sz="1500">
                <a:solidFill>
                  <a:srgbClr val="1C1C1E"/>
                </a:solidFill>
                <a:latin typeface="Arial"/>
              </a:defRPr>
            </a:pPr>
            <a:r>
              <a:t> distributed rate limiters: Replaces in-memory limiters with Redis for multi-instance deployments.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023360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400" b="1">
                <a:solidFill>
                  <a:srgbClr val="00317E"/>
                </a:solidFill>
                <a:latin typeface="Arial"/>
              </a:defRPr>
            </a:pPr>
            <a:r>
              <a:t>ROADMAP TIMELINE</a:t>
            </a:r>
          </a:p>
          <a:p>
            <a:pPr>
              <a:spcBef>
                <a:spcPts val="800"/>
              </a:spcBef>
              <a:defRPr sz="1500" b="1">
                <a:solidFill>
                  <a:srgbClr val="D4AF37"/>
                </a:solidFill>
                <a:latin typeface="Arial"/>
              </a:defRPr>
            </a:pPr>
            <a:r>
              <a:t>• Short Term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Email confirmations, password resets, and file uploads.</a:t>
            </a:r>
          </a:p>
          <a:p>
            <a:pPr>
              <a:spcBef>
                <a:spcPts val="800"/>
              </a:spcBef>
              <a:defRPr sz="1500" b="1">
                <a:solidFill>
                  <a:srgbClr val="D4AF37"/>
                </a:solidFill>
                <a:latin typeface="Arial"/>
              </a:defRPr>
            </a:pPr>
            <a:r>
              <a:t>• Medium Term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Stripe payment integration and Redis rate limit caching.</a:t>
            </a:r>
          </a:p>
          <a:p>
            <a:pPr>
              <a:spcBef>
                <a:spcPts val="800"/>
              </a:spcBef>
              <a:defRPr sz="1500" b="1">
                <a:solidFill>
                  <a:srgbClr val="D4AF37"/>
                </a:solidFill>
                <a:latin typeface="Arial"/>
              </a:defRPr>
            </a:pPr>
            <a:r>
              <a:t>• Long Term</a:t>
            </a:r>
          </a:p>
          <a:p>
            <a:pPr>
              <a:defRPr sz="1150">
                <a:solidFill>
                  <a:srgbClr val="1C1C1E"/>
                </a:solidFill>
                <a:latin typeface="Arial"/>
              </a:defRPr>
            </a:pPr>
            <a:r>
              <a:t>SSO integration, React Native app wrapper, and multi-tenancy.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28600"/>
            <a:ext cx="2286000" cy="6993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 algn="ctr">
              <a:defRPr sz="950">
                <a:solidFill>
                  <a:srgbClr val="6E6E73"/>
                </a:solidFill>
                <a:latin typeface="Arial"/>
              </a:defRPr>
            </a:pPr>
            <a:r>
              <a:t>Student Hub  |  Sapthagiri University  |  Keerthana GP (24SUUBECS0914)  |  Keerthana BS (23SUUBECS0909)  |  Kiran M Biradar (24SUUBECS0937)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00317E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698480" cy="36576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1C1C1E"/>
                </a:solidFill>
                <a:latin typeface="Arial"/>
              </a:defRPr>
            </a:pPr>
            <a:r>
              <a:t>The development and security architecture of Student Hub references the following standards and frameworks:</a:t>
            </a:r>
          </a:p>
          <a:p>
            <a:pPr>
              <a:spcBef>
                <a:spcPts val="1200"/>
              </a:spcBef>
              <a:defRPr sz="1550">
                <a:solidFill>
                  <a:srgbClr val="1C1C1E"/>
                </a:solidFill>
                <a:latin typeface="Arial"/>
              </a:defRPr>
            </a:pPr>
            <a:r>
              <a:t>📚 **Flask 3.0 Documentation**: https://flask.palletsprojects.com (Framework guides)</a:t>
            </a:r>
          </a:p>
          <a:p>
            <a:pPr>
              <a:spcBef>
                <a:spcPts val="1200"/>
              </a:spcBef>
              <a:defRPr sz="1550">
                <a:solidFill>
                  <a:srgbClr val="1C1C1E"/>
                </a:solidFill>
                <a:latin typeface="Arial"/>
              </a:defRPr>
            </a:pPr>
            <a:r>
              <a:t>🗄️ **SQLAlchemy 2.0 Specifications**: https://www.sqlalchemy.org (Object Relational Mapping)</a:t>
            </a:r>
          </a:p>
          <a:p>
            <a:pPr>
              <a:spcBef>
                <a:spcPts val="1200"/>
              </a:spcBef>
              <a:defRPr sz="1550">
                <a:solidFill>
                  <a:srgbClr val="1C1C1E"/>
                </a:solidFill>
                <a:latin typeface="Arial"/>
              </a:defRPr>
            </a:pPr>
            <a:r>
              <a:t>🎨 **Apple Human Interface Guidelines (HIG)**: https://developer.apple.com/design (UI patterns)</a:t>
            </a:r>
          </a:p>
          <a:p>
            <a:pPr>
              <a:spcBef>
                <a:spcPts val="1200"/>
              </a:spcBef>
              <a:defRPr sz="1550">
                <a:solidFill>
                  <a:srgbClr val="1C1C1E"/>
                </a:solidFill>
                <a:latin typeface="Arial"/>
              </a:defRPr>
            </a:pPr>
            <a:r>
              <a:t>🎨 **Google Material Design 3 Documentation**: https://m3.material.io (UI standards)</a:t>
            </a:r>
          </a:p>
          <a:p>
            <a:pPr>
              <a:spcBef>
                <a:spcPts val="1200"/>
              </a:spcBef>
              <a:defRPr sz="1550">
                <a:solidFill>
                  <a:srgbClr val="1C1C1E"/>
                </a:solidFill>
                <a:latin typeface="Arial"/>
              </a:defRPr>
            </a:pPr>
            <a:r>
              <a:t>🛡️ **OWASP Top 10 Security Risks &amp; Controls**: https://owasp.org (CSRF, injections, XSS checks)</a:t>
            </a:r>
          </a:p>
          <a:p>
            <a:pPr>
              <a:spcBef>
                <a:spcPts val="1200"/>
              </a:spcBef>
              <a:defRPr sz="1550">
                <a:solidFill>
                  <a:srgbClr val="1C1C1E"/>
                </a:solidFill>
                <a:latin typeface="Arial"/>
              </a:defRPr>
            </a:pPr>
            <a:r>
              <a:t>💻 **Werkzeug WSGI Web Server Utilities**: https://werkzeug.palletsprojects.com (Development web server)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