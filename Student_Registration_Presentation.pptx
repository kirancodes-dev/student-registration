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3959352" cy="12111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0"/>
            <a:ext cx="10698480" cy="1645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4800" b="1">
                <a:solidFill>
                  <a:srgbClr val="00317E"/>
                </a:solidFill>
                <a:latin typeface="Arial"/>
              </a:defRPr>
            </a:pPr>
            <a:r>
              <a:t>STUDENT HUB</a:t>
            </a:r>
          </a:p>
          <a:p>
            <a:pPr algn="ctr">
              <a:spcBef>
                <a:spcPts val="800"/>
              </a:spcBef>
              <a:defRPr sz="2200" b="1">
                <a:solidFill>
                  <a:srgbClr val="D4AF37"/>
                </a:solidFill>
                <a:latin typeface="Arial"/>
              </a:defRPr>
            </a:pPr>
            <a:r>
              <a:t>Premium Online Student Registration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10698480" cy="16459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1100" b="1">
                <a:solidFill>
                  <a:srgbClr val="6E6E73"/>
                </a:solidFill>
                <a:latin typeface="Arial"/>
              </a:defRPr>
            </a:pPr>
            <a:r>
              <a:t>DEVELOPMENT TEAM</a:t>
            </a:r>
          </a:p>
          <a:p>
            <a:pPr algn="ctr">
              <a:spcBef>
                <a:spcPts val="400"/>
              </a:spcBef>
              <a:defRPr sz="1350" b="1">
                <a:solidFill>
                  <a:srgbClr val="1C1C1E"/>
                </a:solidFill>
                <a:latin typeface="Arial"/>
              </a:defRPr>
            </a:pPr>
            <a:r>
              <a:t>Keerthana GP  (24SUUBECS0914)</a:t>
            </a:r>
          </a:p>
          <a:p>
            <a:pPr algn="ctr">
              <a:spcBef>
                <a:spcPts val="400"/>
              </a:spcBef>
              <a:defRPr sz="1350" b="1">
                <a:solidFill>
                  <a:srgbClr val="1C1C1E"/>
                </a:solidFill>
                <a:latin typeface="Arial"/>
              </a:defRPr>
            </a:pPr>
            <a:r>
              <a:t>Keerthana BS  (23SUUBECS0909)</a:t>
            </a:r>
          </a:p>
          <a:p>
            <a:pPr algn="ctr">
              <a:spcBef>
                <a:spcPts val="400"/>
              </a:spcBef>
              <a:defRPr sz="1350" b="1">
                <a:solidFill>
                  <a:srgbClr val="1C1C1E"/>
                </a:solidFill>
                <a:latin typeface="Arial"/>
              </a:defRPr>
            </a:pPr>
            <a:r>
              <a:t>Kiran M Biradar  (24SUUBECS0937)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What is Student Hub?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A modern, highly secure online student registration platform designed to eliminate offline paperwork and streamline the enrollment process.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⚡ Fast &amp; Intuitive: Replaces complex admission forms with a 4-step wizard.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📱 Responsive Architecture: Works flawlessly across mobiles, tablets, and desktops.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🔒 Local Asset Security: Self-hosts all font and icons vectors to comply with local CSP restrictions.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💼 Institutional Readiness: Designed to match university style systems with dedicated student &amp; admin controls.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0317E"/>
                </a:solidFill>
                <a:latin typeface="Arial"/>
              </a:defRPr>
            </a:pPr>
            <a:r>
              <a:t>CORE METRICS</a:t>
            </a:r>
          </a:p>
          <a:p>
            <a:pPr>
              <a:spcBef>
                <a:spcPts val="800"/>
              </a:spcBef>
              <a:defRPr sz="1600" b="1">
                <a:solidFill>
                  <a:srgbClr val="D4AF37"/>
                </a:solidFill>
                <a:latin typeface="Arial"/>
              </a:defRPr>
            </a:pPr>
            <a:r>
              <a:t>• 3 mins</a:t>
            </a:r>
          </a:p>
          <a:p>
            <a:pPr>
              <a:spcAft>
                <a:spcPts val="400"/>
              </a:spcAft>
              <a:defRPr sz="1200">
                <a:solidFill>
                  <a:srgbClr val="1C1C1E"/>
                </a:solidFill>
                <a:latin typeface="Arial"/>
              </a:defRPr>
            </a:pPr>
            <a:r>
              <a:t>Average student registration time</a:t>
            </a:r>
          </a:p>
          <a:p>
            <a:pPr>
              <a:spcBef>
                <a:spcPts val="800"/>
              </a:spcBef>
              <a:defRPr sz="1600" b="1">
                <a:solidFill>
                  <a:srgbClr val="D4AF37"/>
                </a:solidFill>
                <a:latin typeface="Arial"/>
              </a:defRPr>
            </a:pPr>
            <a:r>
              <a:t>• 100%</a:t>
            </a:r>
          </a:p>
          <a:p>
            <a:pPr>
              <a:spcAft>
                <a:spcPts val="400"/>
              </a:spcAft>
              <a:defRPr sz="1200">
                <a:solidFill>
                  <a:srgbClr val="1C1C1E"/>
                </a:solidFill>
                <a:latin typeface="Arial"/>
              </a:defRPr>
            </a:pPr>
            <a:r>
              <a:t>Paperless online workflow</a:t>
            </a:r>
          </a:p>
          <a:p>
            <a:pPr>
              <a:spcBef>
                <a:spcPts val="800"/>
              </a:spcBef>
              <a:defRPr sz="1600" b="1">
                <a:solidFill>
                  <a:srgbClr val="D4AF37"/>
                </a:solidFill>
                <a:latin typeface="Arial"/>
              </a:defRPr>
            </a:pPr>
            <a:r>
              <a:t>• Instant</a:t>
            </a:r>
          </a:p>
          <a:p>
            <a:pPr>
              <a:spcAft>
                <a:spcPts val="400"/>
              </a:spcAft>
              <a:defRPr sz="1200">
                <a:solidFill>
                  <a:srgbClr val="1C1C1E"/>
                </a:solidFill>
                <a:latin typeface="Arial"/>
              </a:defRPr>
            </a:pPr>
            <a:r>
              <a:t>ID generation (e.g. STU-2026-XXXX)</a:t>
            </a:r>
          </a:p>
          <a:p>
            <a:pPr>
              <a:spcBef>
                <a:spcPts val="800"/>
              </a:spcBef>
              <a:defRPr sz="1600" b="1">
                <a:solidFill>
                  <a:srgbClr val="D4AF37"/>
                </a:solidFill>
                <a:latin typeface="Arial"/>
              </a:defRPr>
            </a:pPr>
            <a:r>
              <a:t>• Bank-Grade</a:t>
            </a:r>
          </a:p>
          <a:p>
            <a:pPr>
              <a:spcAft>
                <a:spcPts val="400"/>
              </a:spcAft>
              <a:defRPr sz="1200">
                <a:solidFill>
                  <a:srgbClr val="1C1C1E"/>
                </a:solidFill>
                <a:latin typeface="Arial"/>
              </a:defRPr>
            </a:pPr>
            <a:r>
              <a:t>Bcrypt hashing &amp; JWT protection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011680"/>
          </a:xfrm>
          <a:prstGeom prst="round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317E"/>
                </a:solidFill>
                <a:latin typeface="Arial"/>
              </a:defRPr>
            </a:pPr>
            <a:r>
              <a:t>⚡ 4-Step Registration Wizard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Personal, Address, Academic, and Account creation screens featuring dynamic validations.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011680"/>
          </a:xfrm>
          <a:prstGeom prst="round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317E"/>
                </a:solidFill>
                <a:latin typeface="Arial"/>
              </a:defRPr>
            </a:pPr>
            <a:r>
              <a:t>👤 Dynamic Student Dashboard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Allows students to view profile completion metrics, deadlines, course information, and manage details.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5212080" cy="2011680"/>
          </a:xfrm>
          <a:prstGeom prst="round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31919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317E"/>
                </a:solidFill>
                <a:latin typeface="Arial"/>
              </a:defRPr>
            </a:pPr>
            <a:r>
              <a:t>🔐 Enterprise Security System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Features bcrypt password hashing, CSRF token validation, rate-limiting, and detailed request audit logging.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49039"/>
            <a:ext cx="5212080" cy="2011680"/>
          </a:xfrm>
          <a:prstGeom prst="round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931919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00317E"/>
                </a:solidFill>
                <a:latin typeface="Arial"/>
              </a:defRPr>
            </a:pPr>
            <a:r>
              <a:t>📊 Admin Analytics Dashboard</a:t>
            </a:r>
          </a:p>
          <a:p>
            <a:pPr>
              <a:defRPr sz="1300">
                <a:solidFill>
                  <a:srgbClr val="1C1C1E"/>
                </a:solidFill>
                <a:latin typeface="Arial"/>
              </a:defRPr>
            </a:pPr>
            <a:r>
              <a:t>Provides real-time student search, sorting, details editors, and major enrollment analytics using Chart.js.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The Student Registration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1828800"/>
            <a:ext cx="1051560" cy="1051560"/>
          </a:xfrm>
          <a:prstGeom prst="ellipse">
            <a:avLst/>
          </a:prstGeom>
          <a:solidFill>
            <a:srgbClr val="00317E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D4AF37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108960"/>
            <a:ext cx="2697480" cy="2743200"/>
          </a:xfrm>
          <a:prstGeom prst="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2514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Personal Info</a:t>
            </a:r>
          </a:p>
          <a:p>
            <a:pPr algn="ctr">
              <a:defRPr sz="1200">
                <a:solidFill>
                  <a:srgbClr val="1C1C1E"/>
                </a:solidFill>
                <a:latin typeface="Arial"/>
              </a:defRPr>
            </a:pPr>
            <a:r>
              <a:t>Full name, DOB, email, and phone validation.</a:t>
            </a:r>
          </a:p>
        </p:txBody>
      </p:sp>
      <p:sp>
        <p:nvSpPr>
          <p:cNvPr id="9" name="Oval 8"/>
          <p:cNvSpPr/>
          <p:nvPr/>
        </p:nvSpPr>
        <p:spPr>
          <a:xfrm>
            <a:off x="4251960" y="1828800"/>
            <a:ext cx="1051560" cy="1051560"/>
          </a:xfrm>
          <a:prstGeom prst="ellipse">
            <a:avLst/>
          </a:prstGeom>
          <a:solidFill>
            <a:srgbClr val="00317E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D4AF37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3108960"/>
            <a:ext cx="2697480" cy="2743200"/>
          </a:xfrm>
          <a:prstGeom prst="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3200400"/>
            <a:ext cx="2514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Address Details</a:t>
            </a:r>
          </a:p>
          <a:p>
            <a:pPr algn="ctr">
              <a:defRPr sz="1200">
                <a:solidFill>
                  <a:srgbClr val="1C1C1E"/>
                </a:solidFill>
                <a:latin typeface="Arial"/>
              </a:defRPr>
            </a:pPr>
            <a:r>
              <a:t>Mailing address, state, city, and ZIP validations.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0" y="1828800"/>
            <a:ext cx="1051560" cy="1051560"/>
          </a:xfrm>
          <a:prstGeom prst="ellipse">
            <a:avLst/>
          </a:prstGeom>
          <a:solidFill>
            <a:srgbClr val="00317E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D4AF37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3108960"/>
            <a:ext cx="2697480" cy="2743200"/>
          </a:xfrm>
          <a:prstGeom prst="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3200400"/>
            <a:ext cx="2514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Academic Profile</a:t>
            </a:r>
          </a:p>
          <a:p>
            <a:pPr algn="ctr">
              <a:defRPr sz="1200">
                <a:solidFill>
                  <a:srgbClr val="1C1C1E"/>
                </a:solidFill>
                <a:latin typeface="Arial"/>
              </a:defRPr>
            </a:pPr>
            <a:r>
              <a:t>Select high school, graduation year, major, and course schedule.</a:t>
            </a:r>
          </a:p>
        </p:txBody>
      </p:sp>
      <p:sp>
        <p:nvSpPr>
          <p:cNvPr id="15" name="Oval 14"/>
          <p:cNvSpPr/>
          <p:nvPr/>
        </p:nvSpPr>
        <p:spPr>
          <a:xfrm>
            <a:off x="9646920" y="1828800"/>
            <a:ext cx="1051560" cy="1051560"/>
          </a:xfrm>
          <a:prstGeom prst="ellipse">
            <a:avLst/>
          </a:prstGeom>
          <a:solidFill>
            <a:srgbClr val="00317E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D4AF37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23960" y="3108960"/>
            <a:ext cx="2697480" cy="2743200"/>
          </a:xfrm>
          <a:prstGeom prst="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15400" y="3200400"/>
            <a:ext cx="2514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Account Settings</a:t>
            </a:r>
          </a:p>
          <a:p>
            <a:pPr algn="ctr">
              <a:defRPr sz="1200">
                <a:solidFill>
                  <a:srgbClr val="1C1C1E"/>
                </a:solidFill>
                <a:latin typeface="Arial"/>
              </a:defRPr>
            </a:pPr>
            <a:r>
              <a:t>Set up password with strength meter, and review terms.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Admin Panel &amp; Data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858000" cy="43891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C1C1E"/>
                </a:solidFill>
                <a:latin typeface="Arial"/>
              </a:defRPr>
            </a:pPr>
            <a:r>
              <a:t>The Admin Console (/admin) provides university administrators with total authority over candidate files, enrollment figures, and system settings.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👥 Integrated Search &amp; Sort: Locate candidates instantly by Name, ID, or Major.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📊 KPI Analysis Cards: Visual cards showing total enrollments, active courses, and status.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📈 Analytics Graphs: Chart.js rendering breakdown percentages of academic majors.</a:t>
            </a:r>
          </a:p>
          <a:p>
            <a:pPr>
              <a:spcBef>
                <a:spcPts val="1200"/>
              </a:spcBef>
              <a:defRPr sz="1500">
                <a:solidFill>
                  <a:srgbClr val="1C1C1E"/>
                </a:solidFill>
                <a:latin typeface="Arial"/>
              </a:defRPr>
            </a:pPr>
            <a:r>
              <a:t>✏️ Profile Editor: Update course schedules, academic records, and statuses.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2F2F7"/>
          </a:solidFill>
          <a:ln w="19050">
            <a:solidFill>
              <a:srgbClr val="0031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202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 b="1">
                <a:solidFill>
                  <a:srgbClr val="D4AF37"/>
                </a:solidFill>
                <a:latin typeface="Arial"/>
              </a:defRPr>
            </a:pPr>
            <a:r>
              <a:t>PORTAL ACCESS</a:t>
            </a:r>
          </a:p>
          <a:p>
            <a:pPr>
              <a:defRPr sz="1300" b="1">
                <a:solidFill>
                  <a:srgbClr val="00317E"/>
                </a:solidFill>
                <a:latin typeface="Arial"/>
              </a:defRPr>
            </a:pPr>
            <a:r>
              <a:t>🔒 Admin URL:</a:t>
            </a:r>
          </a:p>
          <a:p>
            <a:pPr>
              <a:spcAft>
                <a:spcPts val="1000"/>
              </a:spcAft>
              <a:defRPr sz="1100">
                <a:solidFill>
                  <a:srgbClr val="1C1C1E"/>
                </a:solidFill>
                <a:latin typeface="Courier New"/>
              </a:defRPr>
            </a:pPr>
            <a:r>
              <a:t>https://f0e3e2dbe03207.lhr.life/admin</a:t>
            </a:r>
          </a:p>
          <a:p>
            <a:pPr>
              <a:defRPr sz="1300" b="1">
                <a:solidFill>
                  <a:srgbClr val="00317E"/>
                </a:solidFill>
                <a:latin typeface="Arial"/>
              </a:defRPr>
            </a:pPr>
            <a:r>
              <a:t>📧 Email login:</a:t>
            </a:r>
          </a:p>
          <a:p>
            <a:pPr>
              <a:spcAft>
                <a:spcPts val="1000"/>
              </a:spcAft>
              <a:defRPr sz="1200">
                <a:solidFill>
                  <a:srgbClr val="1C1C1E"/>
                </a:solidFill>
                <a:latin typeface="Courier New"/>
              </a:defRPr>
            </a:pPr>
            <a:r>
              <a:t>admin@school.com</a:t>
            </a:r>
          </a:p>
          <a:p>
            <a:pPr>
              <a:defRPr sz="1300" b="1">
                <a:solidFill>
                  <a:srgbClr val="00317E"/>
                </a:solidFill>
                <a:latin typeface="Arial"/>
              </a:defRPr>
            </a:pPr>
            <a:r>
              <a:t>🔑 Password:</a:t>
            </a:r>
          </a:p>
          <a:p>
            <a:pPr>
              <a:defRPr sz="1200">
                <a:solidFill>
                  <a:srgbClr val="1C1C1E"/>
                </a:solidFill>
                <a:latin typeface="Courier New"/>
              </a:defRPr>
            </a:pPr>
            <a:r>
              <a:t>Admin123!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Production Security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1920240"/>
          </a:xfrm>
          <a:prstGeom prst="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🛡️ Content Security Policy</a:t>
            </a:r>
          </a:p>
          <a:p>
            <a:pPr>
              <a:defRPr sz="1250">
                <a:solidFill>
                  <a:srgbClr val="1C1C1E"/>
                </a:solidFill>
                <a:latin typeface="Arial"/>
              </a:defRPr>
            </a:pPr>
            <a:r>
              <a:t>Strict HTTP headers restricting script origins to self and approved CDN domains. Self-hosted Material Symbols font file avoids cross-site tracking/loading blockers.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1920240"/>
          </a:xfrm>
          <a:prstGeom prst="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🔐 Cryptographic Safety</a:t>
            </a:r>
          </a:p>
          <a:p>
            <a:pPr>
              <a:defRPr sz="1250">
                <a:solidFill>
                  <a:srgbClr val="1C1C1E"/>
                </a:solidFill>
                <a:latin typeface="Arial"/>
              </a:defRPr>
            </a:pPr>
            <a:r>
              <a:t>Sensitive user passwords are encrypted using Bcrypt (cost factor 12) before storage. Separate Flask-Login and JWT authorization protect endpoint controllers.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5212080" cy="1920240"/>
          </a:xfrm>
          <a:prstGeom prst="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📊 Request Audit Logging</a:t>
            </a:r>
          </a:p>
          <a:p>
            <a:pPr>
              <a:defRPr sz="1250">
                <a:solidFill>
                  <a:srgbClr val="1C1C1E"/>
                </a:solidFill>
                <a:latin typeface="Arial"/>
              </a:defRPr>
            </a:pPr>
            <a:r>
              <a:t>Every HTTP request and response payload is recorded securely inside a logging system to track user sessions, deactivations, and configuration changes.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931920"/>
            <a:ext cx="5212080" cy="1920240"/>
          </a:xfrm>
          <a:prstGeom prst="rect">
            <a:avLst/>
          </a:prstGeom>
          <a:solidFill>
            <a:srgbClr val="F2F2F7"/>
          </a:solidFill>
          <a:ln>
            <a:solidFill>
              <a:srgbClr val="F2F2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317E"/>
                </a:solidFill>
                <a:latin typeface="Arial"/>
              </a:defRPr>
            </a:pPr>
            <a:r>
              <a:t>🛑 Rate Limiting</a:t>
            </a:r>
          </a:p>
          <a:p>
            <a:pPr>
              <a:defRPr sz="1250">
                <a:solidFill>
                  <a:srgbClr val="1C1C1E"/>
                </a:solidFill>
                <a:latin typeface="Arial"/>
              </a:defRPr>
            </a:pPr>
            <a:r>
              <a:t>Flask-Limiter intercepts login and registration routes to lock out automated brute force actions (e.g. max 5 login attempts / 15 mins).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28600"/>
            <a:ext cx="2286000" cy="6993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ctr">
              <a:defRPr sz="950">
                <a:solidFill>
                  <a:srgbClr val="6E6E73"/>
                </a:solidFill>
                <a:latin typeface="Arial"/>
              </a:defRPr>
            </a:pPr>
            <a:r>
              <a:t>Student Hub  |  Sapthagiri University  |  Keerthana GP (24SUUBECS0914)  |  Keerthana BS (23SUUBECS0909)  |  Kiran M Biradar (24SUUBECS0937)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8686800" cy="73152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00317E"/>
                </a:solidFill>
                <a:latin typeface="Arial"/>
              </a:defRPr>
            </a:pPr>
            <a:r>
              <a:t>Technical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698480" cy="36576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474720"/>
                <a:gridCol w="521208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D4AF37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D4AF37"/>
                          </a:solidFill>
                        </a:defRPr>
                      </a:pPr>
                      <a:r>
                        <a:t>Technology Used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D4AF37"/>
                          </a:solidFill>
                        </a:defRPr>
                      </a:pPr>
                      <a:r>
                        <a:t>Role in Student Hub</a:t>
                      </a:r>
                    </a:p>
                  </a:txBody>
                  <a:tcPr>
                    <a:solidFill>
                      <a:srgbClr val="00317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Backend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Python / Flask 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Handles HTTP endpoints, controllers, and routes lifecycle.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Database / ORM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SQLAlchemy 2.0 / SQLite &amp; MySQL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Relational database maps schemas dynamically; Dev default uses SQLite.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Frontend Styles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CSS3 / Custom Variable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Apple-inspired styling, glassmorphism filters, and Dark/Light styles.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Font &amp; Vectors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Self-Hosted Material Symbols Outlined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Local .ttf font files serve UI vectors securely without CDN redirects.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Authentication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Flask-Login &amp; JWT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Manages user state sessions and API authorization controllers.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C1C1E"/>
                          </a:solidFill>
                        </a:defRPr>
                      </a:pPr>
                      <a:r>
                        <a:t>Security Helpers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C1C1E"/>
                          </a:solidFill>
                        </a:defRPr>
                      </a:pPr>
                      <a:r>
                        <a:t>Flask-Limiter / Bcrypt / WTForms CSRF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C1C1E"/>
                          </a:solidFill>
                        </a:defRPr>
                      </a:pPr>
                      <a:r>
                        <a:t>Halts brute-force attacks, hashes user passwords, and stops CSRF injections.</a:t>
                      </a:r>
                    </a:p>
                  </a:txBody>
                  <a:tcPr>
                    <a:solidFill>
                      <a:srgbClr val="F2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1600"/>
            <a:ext cx="3959352" cy="12111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92608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4800" b="1">
                <a:solidFill>
                  <a:srgbClr val="00317E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defRPr sz="1800">
                <a:solidFill>
                  <a:srgbClr val="D4AF37"/>
                </a:solidFill>
                <a:latin typeface="Arial"/>
              </a:defRPr>
            </a:pPr>
            <a:r>
              <a:t>Questions? We are ready to present the live application demo.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9377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E6E73"/>
                </a:solidFill>
                <a:latin typeface="Arial"/>
              </a:defRPr>
            </a:pPr>
            <a:r>
              <a:t>Student Hub Team:  Keerthana GP (24SUUBECS0914)  |  Keerthana BS (23SUUBECS0909)  |  Kiran M Biradar (24SUUBECS0937)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