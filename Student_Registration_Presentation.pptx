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3959352" cy="12111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0"/>
            <a:ext cx="10698480" cy="1645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4800" b="1">
                <a:solidFill>
                  <a:srgbClr val="00317E"/>
                </a:solidFill>
                <a:latin typeface="Arial"/>
              </a:defRPr>
            </a:pPr>
            <a:r>
              <a:t>STUDENT HUB</a:t>
            </a:r>
          </a:p>
          <a:p>
            <a:pPr algn="ctr">
              <a:spcBef>
                <a:spcPts val="800"/>
              </a:spcBef>
              <a:defRPr sz="2200" b="1">
                <a:solidFill>
                  <a:srgbClr val="D4AF37"/>
                </a:solidFill>
                <a:latin typeface="Arial"/>
              </a:defRPr>
            </a:pPr>
            <a:r>
              <a:t>Premium Online Student Registration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10698480" cy="1645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100" b="1">
                <a:solidFill>
                  <a:srgbClr val="6E6E73"/>
                </a:solidFill>
                <a:latin typeface="Arial"/>
              </a:defRPr>
            </a:pPr>
            <a:r>
              <a:t>DEVELOPMENT TEAM</a:t>
            </a:r>
          </a:p>
          <a:p>
            <a:pPr algn="ctr">
              <a:spcBef>
                <a:spcPts val="400"/>
              </a:spcBef>
              <a:defRPr sz="1350" b="1">
                <a:solidFill>
                  <a:srgbClr val="1C1C1E"/>
                </a:solidFill>
                <a:latin typeface="Arial"/>
              </a:defRPr>
            </a:pPr>
            <a:r>
              <a:t>Keerthana GP  (24SUUBECS0914)</a:t>
            </a:r>
          </a:p>
          <a:p>
            <a:pPr algn="ctr">
              <a:spcBef>
                <a:spcPts val="400"/>
              </a:spcBef>
              <a:defRPr sz="1350" b="1">
                <a:solidFill>
                  <a:srgbClr val="1C1C1E"/>
                </a:solidFill>
                <a:latin typeface="Arial"/>
              </a:defRPr>
            </a:pPr>
            <a:r>
              <a:t>Keerthana BS  (23SUUBECS0909)</a:t>
            </a:r>
          </a:p>
          <a:p>
            <a:pPr algn="ctr">
              <a:spcBef>
                <a:spcPts val="400"/>
              </a:spcBef>
              <a:defRPr sz="1350" b="1">
                <a:solidFill>
                  <a:srgbClr val="1C1C1E"/>
                </a:solidFill>
                <a:latin typeface="Arial"/>
              </a:defRPr>
            </a:pPr>
            <a:r>
              <a:t>Kiran M Biradar  (24SUUBECS0937)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The modern higher education landscape demands automated, paperless, and secure administration systems. Student Hub provides a production-ready solution.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🌐 Digital Transformation: Replaces manual, physical registry routines with secure online registration.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🔒 Self-Contained Assets: Standardized local asset hosting (fonts, styles) guarantees CSP security compliance.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⚡ Integrated Workflow: Merges registration, dashboard trackers, dynamic courses search, and admin charts.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📊 Dynamic Database Adapters: Runs SQLite in development environments and transitions easily to production-ready MySQL.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00317E"/>
                </a:solidFill>
                <a:latin typeface="Arial"/>
              </a:defRPr>
            </a:pPr>
            <a:r>
              <a:t>PROJECT MISSION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Speed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Optimize client forms to complete in under 3 minutes.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Security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Implement strict CSP and Bcrypt encryptions.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Compliance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Create transparent request audit logging trails.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Adaptability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Design database-agnostic backend models.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The 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📁 Heavy Paperwork &amp; Admin Overload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Manual, paper-based student registrations cause massive administrative workloads and high processing delays.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🛑 CSRF &amp; Session Vulnerabilities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Insecure registration web applications risk session hijacking, credential leaks, and data breaches.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⚡ High User Friction &amp; Dropouts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Complex, single-page application forms without real-time validations result in validation failures and high dropout rates.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🔌 Third-Party Assets Dependency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Loading UI symbols/fonts via public CDNs leaves portals open to CSP failures, tracking, and offline loading crashes.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The Proposed Solution: Student 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⚡ Streamlined 4-Step Form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Replaces complex inputs with a clean wizard interface, keeping cognitive load low and completing files in 3 mins.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🔒 Multi-Layered Cryptography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Implements Bcrypt hashes, WTForms CSRF validation, Separate session managers, and custom JWT tokens.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🌐 100% Local CSP Integration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Assets like the Material Symbols font file are self-hosted inside static folders, removing external dependencies.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📈 Centralized Admin Dashboard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Provides administrators with real-time sortable tables, candidate editors, CSV exports, and dynamic stats.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429000" cy="4023360"/>
          </a:xfrm>
          <a:prstGeom prst="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17E"/>
                </a:solidFill>
                <a:latin typeface="Arial"/>
              </a:defRPr>
            </a:pPr>
            <a:r>
              <a:t>📂 VISUAL LAYER</a:t>
            </a:r>
          </a:p>
          <a:p>
            <a:pPr>
              <a:spcAft>
                <a:spcPts val="1400"/>
              </a:spcAft>
              <a:defRPr sz="1200" i="1">
                <a:solidFill>
                  <a:srgbClr val="D4AF37"/>
                </a:solidFill>
                <a:latin typeface="Arial"/>
              </a:defRPr>
            </a:pPr>
            <a:r>
              <a:t>Client-Side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HTML5 semantic structures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CSS3 custom variables theme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Vanilla JS state engine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Local Material Symbols font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Responsive viewport adapter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645920"/>
            <a:ext cx="3429000" cy="4023360"/>
          </a:xfrm>
          <a:prstGeom prst="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17E"/>
                </a:solidFill>
                <a:latin typeface="Arial"/>
              </a:defRPr>
            </a:pPr>
            <a:r>
              <a:t>⚙️ LOGIC LAYER</a:t>
            </a:r>
          </a:p>
          <a:p>
            <a:pPr>
              <a:spcAft>
                <a:spcPts val="1400"/>
              </a:spcAft>
              <a:defRPr sz="1200" i="1">
                <a:solidFill>
                  <a:srgbClr val="D4AF37"/>
                </a:solidFill>
                <a:latin typeface="Arial"/>
              </a:defRPr>
            </a:pPr>
            <a:r>
              <a:t>Server-Side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Flask 3.0 controller routing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SQLAlchemy ORM adapter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Bcrypt passwords generator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JWT secure API tokens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Request Audit Logging (audit.py)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45920"/>
            <a:ext cx="3429000" cy="4023360"/>
          </a:xfrm>
          <a:prstGeom prst="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82880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17E"/>
                </a:solidFill>
                <a:latin typeface="Arial"/>
              </a:defRPr>
            </a:pPr>
            <a:r>
              <a:t>🗄️ STORAGE LAYER</a:t>
            </a:r>
          </a:p>
          <a:p>
            <a:pPr>
              <a:spcAft>
                <a:spcPts val="1400"/>
              </a:spcAft>
              <a:defRPr sz="1200" i="1">
                <a:solidFill>
                  <a:srgbClr val="D4AF37"/>
                </a:solidFill>
                <a:latin typeface="Arial"/>
              </a:defRPr>
            </a:pPr>
            <a:r>
              <a:t>Database Engine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SQLite for local testing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MySQL 8+ for production setup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Candidate/Admin schemas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Uniqueness indexes on DB</a:t>
            </a:r>
          </a:p>
          <a:p>
            <a:pPr>
              <a:spcBef>
                <a:spcPts val="800"/>
              </a:spcBef>
              <a:defRPr sz="1300">
                <a:solidFill>
                  <a:srgbClr val="1C1C1E"/>
                </a:solidFill>
                <a:latin typeface="Arial"/>
              </a:defRPr>
            </a:pPr>
            <a:r>
              <a:t>• Relational catalog tables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Registration Process: Steps 1 &amp;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698480" cy="13716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534924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402336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0031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317E"/>
                </a:solidFill>
                <a:latin typeface="Arial"/>
              </a:defRPr>
            </a:pPr>
            <a:r>
              <a:t>STEP 1: PERSONAL INFORMATION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👥 Full Identity Fields: First and Last Name entries.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📅 Date of Birth Validation: Enforces appropriate age validations.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✉️ Email Verification: Validates format on form focus and checks uniqueness on the DB.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📞 Phone Formatter: Enforces correct local phone number formatting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120640" cy="402336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0031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317E"/>
                </a:solidFill>
                <a:latin typeface="Arial"/>
              </a:defRPr>
            </a:pPr>
            <a:r>
              <a:t>STEP 2: MAILING ADDRESS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🏠 Street Address: Simple, auto-completable single line field.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🏙️ City &amp; State Inputs: Splits local municipal registry areas.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🔢 ZIP / Postal Code Match: Ensures correct numeric zip codes (regex check).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🌐 Country Selection: Standardized drop-down listing for foreign admissions.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Registration Process: Steps 3 &amp; 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698480" cy="13716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1069848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402336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0031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317E"/>
                </a:solidFill>
                <a:latin typeface="Arial"/>
              </a:defRPr>
            </a:pPr>
            <a:r>
              <a:t>STEP 3: ACADEMIC DETAILS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🎓 High School Reference: Logs previous educational history.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📅 Graduation Year: Collects year details to enforce entry parameters.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🔬 Selected Major: Drops down options (Computer Science, Data Science, etc.).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🕒 Enrollment Type: Choice between Full-Time and Part-Time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120640" cy="402336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0031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317E"/>
                </a:solidFill>
                <a:latin typeface="Arial"/>
              </a:defRPr>
            </a:pPr>
            <a:r>
              <a:t>STEP 4: ACCOUNT CREATION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🔑 Password Constraints: Enforces 8+ characters, letters, and numbers.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📈 Strength Meter Indicator: Visual meter displays password difficulty.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📃 Terms Agreement check: Ensures compliance with terms and regulations.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🎓 Dynamic ID Generation: Auto-generates registration key `STU-2026-XXXX`.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Student Dashboard &amp; User 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Upon sign-in, students access a personalized portal designed to track their application status and manage their details.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⭕ Profile Completion Ring: Dynamic SVG ring calculating completeness of inputs.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🌓 Interactive Theme Selector: Dark and Light theme toggle, saving selection in `localStorage`.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📚 Course Catalogs Search: Allows query lookup of available classes and code numbers.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✏️ Direct Profile Updates: Edit address, phone, and enrollment options anytime.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00317E"/>
                </a:solidFill>
                <a:latin typeface="Arial"/>
              </a:defRPr>
            </a:pPr>
            <a:r>
              <a:t>UX INTERACTIONS</a:t>
            </a:r>
          </a:p>
          <a:p>
            <a:pPr>
              <a:spcBef>
                <a:spcPts val="6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🎉 Confetti Canvas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Sparks a celebratory canvas animation upon successful registration.</a:t>
            </a:r>
          </a:p>
          <a:p>
            <a:pPr>
              <a:spcBef>
                <a:spcPts val="6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📋 One-Click Copy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Copies the auto-generated student ID with dynamic status labels.</a:t>
            </a:r>
          </a:p>
          <a:p>
            <a:pPr>
              <a:spcBef>
                <a:spcPts val="6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🔔 Auto-Dismiss Alerts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Clean JavaScript toasts slides up and auto-fades in 5 seconds.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Admin Control Center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The Administrative interface handles institutional workflows, candidate verification, and exports.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🔍 Real-time Search: Instant server queries matching student names, emails, or IDs.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🔢 Multi-Column Sorting: Sort dynamic tabular records by Date, Major, or ID.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📝 Candidate Detail Editors: Override graduation details, enrollment status, or majors.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📥 CSV Directory Exporter: One-click export download of the student roster.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0031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D4AF37"/>
                </a:solidFill>
                <a:latin typeface="Arial"/>
              </a:defRPr>
            </a:pPr>
            <a:r>
              <a:t>ADMIN PORTAL INFO</a:t>
            </a:r>
          </a:p>
          <a:p>
            <a:pPr>
              <a:defRPr sz="1300" b="1">
                <a:solidFill>
                  <a:srgbClr val="00317E"/>
                </a:solidFill>
                <a:latin typeface="Arial"/>
              </a:defRPr>
            </a:pPr>
            <a:r>
              <a:t>• 🔒 Endpoint Location</a:t>
            </a:r>
          </a:p>
          <a:p>
            <a:pPr>
              <a:spcAft>
                <a:spcPts val="400"/>
              </a:spcAft>
              <a:defRPr sz="1150">
                <a:solidFill>
                  <a:srgbClr val="1C1C1E"/>
                </a:solidFill>
                <a:latin typeface="Courier New"/>
              </a:defRPr>
            </a:pPr>
            <a:r>
              <a:t>https://f0e3e2dbe03207.lhr.life/admin</a:t>
            </a:r>
          </a:p>
          <a:p>
            <a:pPr>
              <a:defRPr sz="1300" b="1">
                <a:solidFill>
                  <a:srgbClr val="00317E"/>
                </a:solidFill>
                <a:latin typeface="Arial"/>
              </a:defRPr>
            </a:pPr>
            <a:r>
              <a:t>• 📧 Default Email</a:t>
            </a:r>
          </a:p>
          <a:p>
            <a:pPr>
              <a:spcAft>
                <a:spcPts val="400"/>
              </a:spcAft>
              <a:defRPr sz="1150">
                <a:solidFill>
                  <a:srgbClr val="1C1C1E"/>
                </a:solidFill>
                <a:latin typeface="Courier New"/>
              </a:defRPr>
            </a:pPr>
            <a:r>
              <a:t>admin@school.com</a:t>
            </a:r>
          </a:p>
          <a:p>
            <a:pPr>
              <a:defRPr sz="1300" b="1">
                <a:solidFill>
                  <a:srgbClr val="00317E"/>
                </a:solidFill>
                <a:latin typeface="Arial"/>
              </a:defRPr>
            </a:pPr>
            <a:r>
              <a:t>• 🔑 Default Password</a:t>
            </a:r>
          </a:p>
          <a:p>
            <a:pPr>
              <a:spcAft>
                <a:spcPts val="400"/>
              </a:spcAft>
              <a:defRPr sz="1150">
                <a:solidFill>
                  <a:srgbClr val="1C1C1E"/>
                </a:solidFill>
                <a:latin typeface="Arial"/>
              </a:defRPr>
            </a:pPr>
            <a:r>
              <a:t>Admin123!</a:t>
            </a:r>
          </a:p>
          <a:p>
            <a:pPr>
              <a:defRPr sz="1300" b="1">
                <a:solidFill>
                  <a:srgbClr val="00317E"/>
                </a:solidFill>
                <a:latin typeface="Arial"/>
              </a:defRPr>
            </a:pPr>
            <a:r>
              <a:t>• 🛡️ Session Lock</a:t>
            </a:r>
          </a:p>
          <a:p>
            <a:pPr>
              <a:spcAft>
                <a:spcPts val="400"/>
              </a:spcAft>
              <a:defRPr sz="1150">
                <a:solidFill>
                  <a:srgbClr val="1C1C1E"/>
                </a:solidFill>
                <a:latin typeface="Arial"/>
              </a:defRPr>
            </a:pPr>
            <a:r>
              <a:t>Flask Session Cookie: Lax + Secure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Admin Analytics &amp; KPI Cards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Administrators gain access to a dedicated business intelligence layer, enabling visual insights into student admissions metrics.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📊 Dynamically Served KPIs: Displays Total Registrations, Majors distribution count, and active schedules.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📡 Stats API Endpoint (/api/stats): Dynamic JSON route returning real-time student numbers to the landing page.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📈 Chart.js Charting Interface: Administrative screens render real-time majors breakdown graphs.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📉 Interactive Major Filtering: Click elements in Chart.js legends to filter candidate records.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D4AF37"/>
                </a:solidFill>
                <a:latin typeface="Arial"/>
              </a:defRPr>
            </a:pPr>
            <a:r>
              <a:t>API JSON SAMPLE (/api/stats)</a:t>
            </a:r>
          </a:p>
          <a:p>
            <a:pPr>
              <a:lnSpc>
                <a:spcPct val="110000"/>
              </a:lnSpc>
              <a:defRPr sz="1100">
                <a:solidFill>
                  <a:srgbClr val="00FF00"/>
                </a:solidFill>
                <a:latin typeface="Courier New"/>
              </a:defRPr>
            </a:pPr>
            <a:r>
              <a:t>{</a:t>
            </a:r>
            <a:br/>
            <a:r>
              <a:t>  "status": "success",</a:t>
            </a:r>
            <a:br/>
            <a:r>
              <a:t>  "total_students": 20,</a:t>
            </a:r>
            <a:br/>
            <a:r>
              <a:t>  "majors": {</a:t>
            </a:r>
            <a:br/>
            <a:r>
              <a:t>    "Computer Science": 8,</a:t>
            </a:r>
            <a:br/>
            <a:r>
              <a:t>    "Data Science": 5,</a:t>
            </a:r>
            <a:br/>
            <a:r>
              <a:t>    "Electrical": 4,</a:t>
            </a:r>
            <a:br/>
            <a:r>
              <a:t>    "Mechanical": 3</a:t>
            </a:r>
            <a:br/>
            <a:r>
              <a:t>  },</a:t>
            </a:r>
            <a:br/>
            <a:r>
              <a:t>  "types": {</a:t>
            </a:r>
            <a:br/>
            <a:r>
              <a:t>    "Full-Time": 14,</a:t>
            </a:r>
            <a:br/>
            <a:r>
              <a:t>    "Part-Time": 6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Production Security &amp;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1920240"/>
          </a:xfrm>
          <a:prstGeom prst="rect">
            <a:avLst/>
          </a:prstGeom>
          <a:solidFill>
            <a:srgbClr val="F2F2F7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🔐 Cryptographic Password Protection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User passwords undergo hashing using the blowfish Bcrypt algorithm (work factor: 12) before database write.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1920240"/>
          </a:xfrm>
          <a:prstGeom prst="rect">
            <a:avLst/>
          </a:prstGeom>
          <a:solidFill>
            <a:srgbClr val="F2F2F7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🛡️ Content Security Policy (CSP)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Rigid HTTP security policies restrict resource downloads exclusively to 'self' and approved endpoints, preventing injections.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5212080" cy="1920240"/>
          </a:xfrm>
          <a:prstGeom prst="rect">
            <a:avLst/>
          </a:prstGeom>
          <a:solidFill>
            <a:srgbClr val="F2F2F7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🚫 Rate-Limiter Interceptor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Protects authentication interfaces against dictionary attacks. Registers max 10 attempts/hour per IP.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931920"/>
            <a:ext cx="5212080" cy="1920240"/>
          </a:xfrm>
          <a:prstGeom prst="rect">
            <a:avLst/>
          </a:prstGeom>
          <a:solidFill>
            <a:srgbClr val="F2F2F7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📜 Cross-Site Request Forgery (CSRF)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Flask-WTForms forces cryptographic signature checks on every POST payload, neutralizing CSRF attacks.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Audit Logging &amp; Middleware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Student Hub logs every critical operation in the server logs (audit.py) to meet corporate compliance standards.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📋 Session Isolation: Keeps Administrator and Student credentials separated at the controller layer.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🖥️ Audit Logs: Writes time, operation context, client IP, and target candidate IDs for all admin edits.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🧹 Input Sanitizer: Filter classes inspect all inbound strings to wipe out SQL injections and HTML tags.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🔓 JWT Authentication: Endpoint controller decorator `@token_required` validates student API sessions.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D4AF37"/>
                </a:solidFill>
                <a:latin typeface="Arial"/>
              </a:defRPr>
            </a:pPr>
            <a:r>
              <a:t>LOG FORMAT SAMPLE</a:t>
            </a:r>
          </a:p>
          <a:p>
            <a:pPr>
              <a:lnSpc>
                <a:spcPct val="110000"/>
              </a:lnSpc>
              <a:defRPr sz="1050">
                <a:solidFill>
                  <a:srgbClr val="00FFFF"/>
                </a:solidFill>
                <a:latin typeface="Courier New"/>
              </a:defRPr>
            </a:pPr>
            <a:r>
              <a:t>2026-05-24 10:45:01 [INFO]</a:t>
            </a:r>
            <a:br/>
            <a:r>
              <a:t>AuditLog: {</a:t>
            </a:r>
            <a:br/>
            <a:r>
              <a:t>  "request_id": "8a32-9b2f",</a:t>
            </a:r>
            <a:br/>
            <a:r>
              <a:t>  "user_id": 14,</a:t>
            </a:r>
            <a:br/>
            <a:r>
              <a:t>  "action": "UPDATE_PROFILE",</a:t>
            </a:r>
            <a:br/>
            <a:r>
              <a:t>  "ip": "127.0.0.1",</a:t>
            </a:r>
            <a:br/>
            <a:r>
              <a:t>  "timestamp": "10:45:01",</a:t>
            </a:r>
            <a:br/>
            <a:r>
              <a:t>  "details": {</a:t>
            </a:r>
            <a:br/>
            <a:r>
              <a:t>    "student_id": "STU-2026-A3",</a:t>
            </a:r>
            <a:br/>
            <a:r>
              <a:t>    "status": "active"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The 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474720"/>
                <a:gridCol w="521208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D4AF37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D4AF37"/>
                          </a:solidFill>
                        </a:defRPr>
                      </a:pPr>
                      <a:r>
                        <a:t>Technology Used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D4AF37"/>
                          </a:solidFill>
                        </a:defRPr>
                      </a:pPr>
                      <a:r>
                        <a:t>Role in Student Hub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Backend logic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Python / Flask 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Handles HTTP endpoints, controller mapping, and route lifecycle.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ORM / Database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SQLAlchemy 2.0 / SQLite &amp; MySQL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Relational database models mapping. Dev fallback utilizes SQLite.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UI Styling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CSS3 / Custom Variable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Apple-inspired styling, glassmorphism cards, and Dark/Light templates.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Fonts &amp; Icons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Self-Hosted Material Symbols Outlined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Local .ttf font files serve vectors securely, bypassing CDN blocks.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Authentication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Flask-Login &amp; JWT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Manages student session states and API authorization headers.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Enterprise Safety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Flask-Limiter / Bcrypt / WTForms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Halts brute-force attacks, hashes user passwords, and prevents CSRF.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3959352" cy="12111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834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4800" b="1">
                <a:solidFill>
                  <a:srgbClr val="00317E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defRPr sz="1800" b="1">
                <a:solidFill>
                  <a:srgbClr val="D4AF37"/>
                </a:solidFill>
                <a:latin typeface="Arial"/>
              </a:defRPr>
            </a:pPr>
            <a:r>
              <a:t>Student Hub: Streamlined, Secure, and Ready for Enterprise Enrollment.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9377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E6E73"/>
                </a:solidFill>
                <a:latin typeface="Arial"/>
              </a:defRPr>
            </a:pPr>
            <a:r>
              <a:t>Student Hub Development Team:  Keerthana GP (24SUUBECS0914)  |  Keerthana BS (23SUUBECS0909)  |  Kiran M Biradar (24SUUBECS0937)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